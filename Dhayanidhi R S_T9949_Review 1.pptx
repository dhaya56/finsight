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147470504" r:id="rId2"/>
    <p:sldId id="2147470506" r:id="rId3"/>
    <p:sldId id="2147470508" r:id="rId4"/>
    <p:sldId id="2147470494" r:id="rId5"/>
    <p:sldId id="2147470495" r:id="rId6"/>
    <p:sldId id="2147470518" r:id="rId7"/>
    <p:sldId id="2147470496" r:id="rId8"/>
    <p:sldId id="2147470497" r:id="rId9"/>
    <p:sldId id="214747050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D98"/>
    <a:srgbClr val="30BBDA"/>
    <a:srgbClr val="47BDAE"/>
    <a:srgbClr val="25B9ED"/>
    <a:srgbClr val="FFFFFF"/>
    <a:srgbClr val="47BDAF"/>
    <a:srgbClr val="696969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E01A2-B79B-4D03-8991-148850DB352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BBCD4-A5DC-44E7-90C4-CFDCC5730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49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77350" y="42067"/>
            <a:ext cx="6388174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3162886" y="109004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377762" y="1211685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5" y="1659822"/>
            <a:ext cx="11815822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FinSight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: An Evidence-Grounded Financial Filing Analyst powered by Hybrid RAG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Dhayanidhi R S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483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271219"/>
            <a:ext cx="11753011" cy="5325520"/>
          </a:xfrm>
        </p:spPr>
        <p:txBody>
          <a:bodyPr/>
          <a:lstStyle/>
          <a:p>
            <a:pPr algn="just" fontAlgn="t">
              <a:lnSpc>
                <a:spcPct val="100000"/>
              </a:lnSpc>
              <a:buNone/>
            </a:pPr>
            <a:r>
              <a:rPr lang="en-IN" sz="2500" dirty="0">
                <a:latin typeface="Calibri (Body)"/>
              </a:rPr>
              <a:t>Background &amp; Problem Statement</a:t>
            </a:r>
          </a:p>
          <a:p>
            <a:pPr algn="just" fontAlgn="t">
              <a:lnSpc>
                <a:spcPct val="100000"/>
              </a:lnSpc>
              <a:buNone/>
            </a:pPr>
            <a:r>
              <a:rPr lang="en-IN" sz="2500" b="0" dirty="0">
                <a:latin typeface="Calibri (Body)"/>
              </a:rPr>
              <a:t>	</a:t>
            </a:r>
            <a:r>
              <a:rPr lang="en-IN" sz="2500" b="0" dirty="0">
                <a:solidFill>
                  <a:schemeClr val="tx1"/>
                </a:solidFill>
              </a:rPr>
              <a:t>Company financial filings contain valuable information across lengthy narratives, complex tables, financial statements, and notes. Analysts must manually search, interpret, compare, and verify this information.</a:t>
            </a:r>
            <a:endParaRPr lang="en-IN" sz="2500" b="0" dirty="0">
              <a:solidFill>
                <a:schemeClr val="tx1"/>
              </a:solidFill>
              <a:latin typeface="Calibri (Body)"/>
            </a:endParaRPr>
          </a:p>
          <a:p>
            <a:pPr algn="just" fontAlgn="t">
              <a:lnSpc>
                <a:spcPct val="100000"/>
              </a:lnSpc>
              <a:buNone/>
            </a:pPr>
            <a:r>
              <a:rPr lang="en-IN" sz="2500" b="0" dirty="0">
                <a:solidFill>
                  <a:schemeClr val="tx1"/>
                </a:solidFill>
                <a:latin typeface="Calibri (Body)"/>
              </a:rPr>
              <a:t>	Generic document-question-answering systems may: </a:t>
            </a:r>
          </a:p>
          <a:p>
            <a:pPr lvl="2" algn="just" fontAlgn="t">
              <a:lnSpc>
                <a:spcPct val="100000"/>
              </a:lnSpc>
            </a:pPr>
            <a:r>
              <a:rPr lang="en-IN" sz="2500" b="0" dirty="0">
                <a:solidFill>
                  <a:schemeClr val="tx1"/>
                </a:solidFill>
                <a:latin typeface="Calibri (Body)"/>
              </a:rPr>
              <a:t>confuse fiscal periods, currencies, or presentation units.</a:t>
            </a:r>
          </a:p>
          <a:p>
            <a:pPr lvl="2" algn="just" fontAlgn="t">
              <a:lnSpc>
                <a:spcPct val="100000"/>
              </a:lnSpc>
            </a:pPr>
            <a:r>
              <a:rPr lang="en-IN" sz="2500" b="0" dirty="0">
                <a:solidFill>
                  <a:schemeClr val="tx1"/>
                </a:solidFill>
                <a:latin typeface="Calibri (Body)"/>
              </a:rPr>
              <a:t>provide answers without precise source evidence.</a:t>
            </a:r>
          </a:p>
          <a:p>
            <a:pPr algn="just" fontAlgn="t">
              <a:lnSpc>
                <a:spcPct val="100000"/>
              </a:lnSpc>
              <a:buNone/>
            </a:pPr>
            <a:r>
              <a:rPr lang="en-IN" sz="2500" dirty="0">
                <a:latin typeface="Calibri (Body)"/>
              </a:rPr>
              <a:t>Proposed System</a:t>
            </a:r>
          </a:p>
          <a:p>
            <a:pPr algn="just" fontAlgn="t">
              <a:lnSpc>
                <a:spcPct val="100000"/>
              </a:lnSpc>
              <a:buNone/>
            </a:pPr>
            <a:r>
              <a:rPr lang="en-IN" sz="2500" dirty="0">
                <a:latin typeface="Calibri (Body)"/>
              </a:rPr>
              <a:t>	</a:t>
            </a:r>
            <a:r>
              <a:rPr lang="en-IN" sz="2500" dirty="0">
                <a:solidFill>
                  <a:schemeClr val="tx1"/>
                </a:solidFill>
              </a:rPr>
              <a:t>FinSight</a:t>
            </a:r>
            <a:r>
              <a:rPr lang="en-IN" sz="2500" b="0" dirty="0">
                <a:solidFill>
                  <a:schemeClr val="tx1"/>
                </a:solidFill>
              </a:rPr>
              <a:t> combines full-document Hybrid RAG with a structured Financial Fact Ledger to:</a:t>
            </a:r>
          </a:p>
          <a:p>
            <a:pPr marL="1257300" lvl="2" indent="-342900" algn="just" fontAlgn="t">
              <a:lnSpc>
                <a:spcPct val="100000"/>
              </a:lnSpc>
            </a:pPr>
            <a:r>
              <a:rPr lang="en-IN" sz="2500" b="0" dirty="0">
                <a:solidFill>
                  <a:schemeClr val="tx1"/>
                </a:solidFill>
              </a:rPr>
              <a:t>answer natural-language queries and comparisons.</a:t>
            </a:r>
          </a:p>
          <a:p>
            <a:pPr marL="1257300" lvl="2" indent="-342900" algn="just" fontAlgn="t">
              <a:lnSpc>
                <a:spcPct val="100000"/>
              </a:lnSpc>
            </a:pPr>
            <a:r>
              <a:rPr lang="en-IN" sz="2500" b="0" dirty="0">
                <a:solidFill>
                  <a:schemeClr val="tx1"/>
                </a:solidFill>
              </a:rPr>
              <a:t>provide evidence-grounded answers with traceable citations.</a:t>
            </a:r>
          </a:p>
          <a:p>
            <a:pPr algn="just" fontAlgn="t">
              <a:lnSpc>
                <a:spcPct val="100000"/>
              </a:lnSpc>
              <a:buNone/>
            </a:pPr>
            <a:endParaRPr lang="en-US" sz="2500" b="0" dirty="0">
              <a:solidFill>
                <a:srgbClr val="5583D1"/>
              </a:solidFill>
              <a:latin typeface="Calibri (Body)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5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419600" y="0"/>
            <a:ext cx="777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FinSight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An Evidence-Grounded Financial Filing Analyst powered by Hybrid RAG</a:t>
            </a:r>
          </a:p>
        </p:txBody>
      </p:sp>
    </p:spTree>
    <p:extLst>
      <p:ext uri="{BB962C8B-B14F-4D97-AF65-F5344CB8AC3E}">
        <p14:creationId xmlns:p14="http://schemas.microsoft.com/office/powerpoint/2010/main" val="1931322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97A0E-978F-77C5-C52D-D5CCB9B1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B9C926-C57D-BB32-05A5-B4AEDD8D6F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31204" cy="5358177"/>
          </a:xfrm>
        </p:spPr>
        <p:txBody>
          <a:bodyPr/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+mn-lt"/>
              </a:rPr>
              <a:t>Preserve</a:t>
            </a:r>
            <a:r>
              <a:rPr lang="en-IN" sz="2600" b="0" dirty="0">
                <a:solidFill>
                  <a:schemeClr val="tx1"/>
                </a:solidFill>
                <a:latin typeface="+mn-lt"/>
              </a:rPr>
              <a:t> every filing byte-for-byte with verifiable identity, and keep the original immutable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+mn-lt"/>
              </a:rPr>
              <a:t>Extract</a:t>
            </a:r>
            <a:r>
              <a:rPr lang="en-IN" sz="2600" b="0" dirty="0">
                <a:solidFill>
                  <a:schemeClr val="tx1"/>
                </a:solidFill>
                <a:latin typeface="+mn-lt"/>
              </a:rPr>
              <a:t> a citable source representation — pages, blocks, tables and footnotes with exact coordinates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+mn-lt"/>
              </a:rPr>
              <a:t>Retrieve</a:t>
            </a:r>
            <a:r>
              <a:rPr lang="en-IN" sz="2600" b="0" dirty="0">
                <a:solidFill>
                  <a:schemeClr val="tx1"/>
                </a:solidFill>
                <a:latin typeface="+mn-lt"/>
              </a:rPr>
              <a:t> passages by both wording and meaning, under scope filters that similarity cannot override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+mn-lt"/>
              </a:rPr>
              <a:t>Generate</a:t>
            </a:r>
            <a:r>
              <a:rPr lang="en-IN" sz="2600" b="0" dirty="0">
                <a:solidFill>
                  <a:schemeClr val="tx1"/>
                </a:solidFill>
                <a:latin typeface="+mn-lt"/>
              </a:rPr>
              <a:t> answers in which every claim cites the stored source span it rests on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+mn-lt"/>
              </a:rPr>
              <a:t>Verify</a:t>
            </a:r>
            <a:r>
              <a:rPr lang="en-IN" sz="2600" b="0" dirty="0">
                <a:solidFill>
                  <a:schemeClr val="tx1"/>
                </a:solidFill>
                <a:latin typeface="+mn-lt"/>
              </a:rPr>
              <a:t> every numeral against the span its own claim cites, and remove any claim that fails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+mn-lt"/>
              </a:rPr>
              <a:t>Record</a:t>
            </a:r>
            <a:r>
              <a:rPr lang="en-IN" sz="2600" b="0" dirty="0">
                <a:solidFill>
                  <a:schemeClr val="tx1"/>
                </a:solidFill>
                <a:latin typeface="+mn-lt"/>
              </a:rPr>
              <a:t> every answer, decision and reason for audit.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53E4E-352D-57A1-1647-A436C7B949C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5FB60F-7AAA-2378-6E76-2861C642BB8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423F60-2CFD-E343-F6DC-C0957453B8DD}"/>
              </a:ext>
            </a:extLst>
          </p:cNvPr>
          <p:cNvSpPr txBox="1"/>
          <p:nvPr/>
        </p:nvSpPr>
        <p:spPr>
          <a:xfrm>
            <a:off x="4376057" y="57036"/>
            <a:ext cx="7815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FinSight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An Evidence-Grounded Financial Filing Analyst powered by Hybrid RAG</a:t>
            </a:r>
          </a:p>
        </p:txBody>
      </p:sp>
    </p:spTree>
    <p:extLst>
      <p:ext uri="{BB962C8B-B14F-4D97-AF65-F5344CB8AC3E}">
        <p14:creationId xmlns:p14="http://schemas.microsoft.com/office/powerpoint/2010/main" val="3027957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148876"/>
            <a:ext cx="11663861" cy="5567607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IN" sz="2500" dirty="0">
                <a:solidFill>
                  <a:schemeClr val="tx1"/>
                </a:solidFill>
                <a:latin typeface="+mn-lt"/>
              </a:rPr>
              <a:t>Document types: </a:t>
            </a:r>
            <a:r>
              <a:rPr lang="en-IN" sz="2500" b="0" dirty="0">
                <a:solidFill>
                  <a:schemeClr val="tx1"/>
                </a:solidFill>
                <a:latin typeface="+mn-lt"/>
              </a:rPr>
              <a:t>PDF annual reports and DRHPs, as published</a:t>
            </a:r>
          </a:p>
          <a:p>
            <a:pPr algn="just">
              <a:lnSpc>
                <a:spcPct val="100000"/>
              </a:lnSpc>
            </a:pPr>
            <a:r>
              <a:rPr lang="en-IN" sz="2500" dirty="0">
                <a:solidFill>
                  <a:schemeClr val="tx1"/>
                </a:solidFill>
                <a:latin typeface="+mn-lt"/>
              </a:rPr>
              <a:t>Corpus: </a:t>
            </a:r>
            <a:r>
              <a:rPr lang="en-IN" sz="2500" b="0" dirty="0">
                <a:solidFill>
                  <a:schemeClr val="tx1"/>
                </a:solidFill>
                <a:latin typeface="+mn-lt"/>
              </a:rPr>
              <a:t>3 Indian filings for development (Infosys, HDFC Bank, Ola Electric) — 1,403 pages; a separate held-out set is frozen for evaluation</a:t>
            </a:r>
          </a:p>
          <a:p>
            <a:pPr algn="just">
              <a:lnSpc>
                <a:spcPct val="100000"/>
              </a:lnSpc>
            </a:pPr>
            <a:r>
              <a:rPr lang="en-IN" sz="2500" dirty="0">
                <a:solidFill>
                  <a:schemeClr val="tx1"/>
                </a:solidFill>
                <a:latin typeface="+mn-lt"/>
              </a:rPr>
              <a:t>Capability: </a:t>
            </a:r>
            <a:r>
              <a:rPr lang="en-IN" sz="2500" b="0" dirty="0">
                <a:solidFill>
                  <a:schemeClr val="tx1"/>
                </a:solidFill>
                <a:latin typeface="+mn-lt"/>
              </a:rPr>
              <a:t>Natural-language questions answered from retrieved passages, each claim citing stored source spans</a:t>
            </a:r>
          </a:p>
          <a:p>
            <a:pPr algn="just">
              <a:lnSpc>
                <a:spcPct val="100000"/>
              </a:lnSpc>
            </a:pPr>
            <a:r>
              <a:rPr lang="en-IN" sz="2500" dirty="0">
                <a:solidFill>
                  <a:schemeClr val="tx1"/>
                </a:solidFill>
                <a:latin typeface="+mn-lt"/>
              </a:rPr>
              <a:t>Retrieval: </a:t>
            </a:r>
            <a:r>
              <a:rPr lang="en-IN" sz="2500" b="0" dirty="0">
                <a:solidFill>
                  <a:schemeClr val="tx1"/>
                </a:solidFill>
                <a:latin typeface="+mn-lt"/>
              </a:rPr>
              <a:t>Hybrid — BM25 lexical + dense vectors, fused, then cross-encoder reranked, under hard filters on issuer, fiscal period and reporting basis</a:t>
            </a:r>
          </a:p>
          <a:p>
            <a:pPr algn="just">
              <a:lnSpc>
                <a:spcPct val="100000"/>
              </a:lnSpc>
            </a:pPr>
            <a:r>
              <a:rPr lang="en-IN" sz="2500" dirty="0">
                <a:solidFill>
                  <a:schemeClr val="tx1"/>
                </a:solidFill>
                <a:latin typeface="+mn-lt"/>
              </a:rPr>
              <a:t>Grounding: </a:t>
            </a:r>
            <a:r>
              <a:rPr lang="en-IN" sz="2500" b="0" dirty="0">
                <a:solidFill>
                  <a:schemeClr val="tx1"/>
                </a:solidFill>
                <a:latin typeface="+mn-lt"/>
              </a:rPr>
              <a:t>The model citations are resolved by code and every numeral is checked against the spans its own claim cites</a:t>
            </a:r>
          </a:p>
          <a:p>
            <a:pPr algn="just">
              <a:lnSpc>
                <a:spcPct val="100000"/>
              </a:lnSpc>
            </a:pPr>
            <a:r>
              <a:rPr lang="en-IN" sz="2500" dirty="0">
                <a:solidFill>
                  <a:schemeClr val="tx1"/>
                </a:solidFill>
                <a:latin typeface="+mn-lt"/>
              </a:rPr>
              <a:t>Deployment: </a:t>
            </a:r>
            <a:r>
              <a:rPr lang="en-IN" sz="2500" b="0" dirty="0">
                <a:solidFill>
                  <a:schemeClr val="tx1"/>
                </a:solidFill>
                <a:latin typeface="+mn-lt"/>
              </a:rPr>
              <a:t>Entirely local — PostgreSQL, Qdrant and S3-compatible object storage in containers, language models host-native. No data leaves the machine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386943" y="57036"/>
            <a:ext cx="7805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FinSight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An Evidence-Grounded Financial Filing Analyst powered by Hybrid RAG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4365171" y="57036"/>
            <a:ext cx="782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FinSight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An Evidence-Grounded Financial Filing Analyst powered by Hybrid RAG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E54DCB-851C-FA99-9245-8C59BC745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768550"/>
              </p:ext>
            </p:extLst>
          </p:nvPr>
        </p:nvGraphicFramePr>
        <p:xfrm>
          <a:off x="653144" y="1231505"/>
          <a:ext cx="10929256" cy="5096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4">
                  <a:extLst>
                    <a:ext uri="{9D8B030D-6E8A-4147-A177-3AD203B41FA5}">
                      <a16:colId xmlns:a16="http://schemas.microsoft.com/office/drawing/2014/main" val="1520485138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2229199119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2521219888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752682219"/>
                    </a:ext>
                  </a:extLst>
                </a:gridCol>
              </a:tblGrid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#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Work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What it establishes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How FinSight applies it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280867750"/>
                  </a:ext>
                </a:extLst>
              </a:tr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[1]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Gao et al., </a:t>
                      </a:r>
                      <a:r>
                        <a:rPr lang="en-IN" sz="1800" b="0" i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Enabling LLMs to Generate Text with Citations</a:t>
                      </a: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EMNLP 2023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Models can cite, but self-reported citations are often unfaithful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Citations resolved by code, not accepted from the model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780760254"/>
                  </a:ext>
                </a:extLst>
              </a:tr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[2]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Menick et al., </a:t>
                      </a:r>
                      <a:r>
                        <a:rPr lang="en-IN" sz="1800" b="0" i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Teaching LMs to Support Answers with Verified Quotes</a:t>
                      </a: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2022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Verified quoting raises support but needs external checking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Quotations never transcribed by the model; spans read from storage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878058158"/>
                  </a:ext>
                </a:extLst>
              </a:tr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[3]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Liu et al., </a:t>
                      </a:r>
                      <a:r>
                        <a:rPr lang="en-IN" sz="1800" b="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Lost in the Middle</a:t>
                      </a: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TACL 2024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Accuracy drops for evidence in the middle of long contexts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Bounded context: 48 passages kept over 22 expanded — measured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948661185"/>
                  </a:ext>
                </a:extLst>
              </a:tr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[4]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Asai et al., </a:t>
                      </a:r>
                      <a:r>
                        <a:rPr lang="en-IN" sz="1800" b="0" i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Self-RAG</a:t>
                      </a: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ICLR 2024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Self-reflection can gate retrieval and generation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Gating made deterministic — an Evidence Gate in code, not self-critique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420136641"/>
                  </a:ext>
                </a:extLst>
              </a:tr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[5]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Greshake et al., </a:t>
                      </a:r>
                      <a:r>
                        <a:rPr lang="en-IN" sz="1800" b="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Indirect Prompt Injection</a:t>
                      </a: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AISec 2023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Retrieved documents are an attack surface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Model has no tools, filesystem or network; injection probes returned real figures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17498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FBF8D-116F-C4AB-D1B8-77CBBE66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CE3454-F441-796E-368C-92E0C5CD173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ADF237-C68A-D5BD-1F3B-5859688D4F7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457565C-D787-F95A-AD0E-2A7DA476E40F}"/>
              </a:ext>
            </a:extLst>
          </p:cNvPr>
          <p:cNvSpPr txBox="1"/>
          <p:nvPr/>
        </p:nvSpPr>
        <p:spPr>
          <a:xfrm>
            <a:off x="4365171" y="57036"/>
            <a:ext cx="782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FinSight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An Evidence-Grounded Financial Filing Analyst powered by Hybrid RAG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7F3607-9A3B-B898-B12B-202BD9B2D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9062"/>
              </p:ext>
            </p:extLst>
          </p:nvPr>
        </p:nvGraphicFramePr>
        <p:xfrm>
          <a:off x="653144" y="1231505"/>
          <a:ext cx="10929256" cy="5096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4">
                  <a:extLst>
                    <a:ext uri="{9D8B030D-6E8A-4147-A177-3AD203B41FA5}">
                      <a16:colId xmlns:a16="http://schemas.microsoft.com/office/drawing/2014/main" val="1520485138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2229199119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2521219888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752682219"/>
                    </a:ext>
                  </a:extLst>
                </a:gridCol>
              </a:tblGrid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#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Work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What it establishes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How FinSight applies it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280867750"/>
                  </a:ext>
                </a:extLst>
              </a:tr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[6]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Gao et al., </a:t>
                      </a:r>
                      <a:r>
                        <a:rPr lang="en-IN" sz="1800" b="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RAG for LLMs: A Survey</a:t>
                      </a: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2023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Taxonomy of naive → advanced → modular RAG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Modular: retrieve, fuse, rerank, generate, verify as separable stages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780760254"/>
                  </a:ext>
                </a:extLst>
              </a:tr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[7]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Thakur et al., </a:t>
                      </a:r>
                      <a:r>
                        <a:rPr lang="en-IN" sz="1800" b="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BEIR</a:t>
                      </a: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NeurIPS 2021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Zero-shot IR generalises poorly across domains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model adopted on leaderboard rank; all marked provisional pending a domain golden set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878058158"/>
                  </a:ext>
                </a:extLst>
              </a:tr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[8]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Formal et al., </a:t>
                      </a:r>
                      <a:r>
                        <a:rPr lang="en-IN" sz="1800" b="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From Distillation to Hard Negative Sampling</a:t>
                      </a: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SIGIR 2022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Learned sparse retrieval rivals dense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BM25 sparse adopted now; learned sparse gated behind a resource evaluation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948661185"/>
                  </a:ext>
                </a:extLst>
              </a:tr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[9]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Ji et al., </a:t>
                      </a:r>
                      <a:r>
                        <a:rPr lang="en-IN" sz="1800" b="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Survey of Hallucination in NLG</a:t>
                      </a: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ACM CSUR 2023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Hallucination is intrinsic, mitigated not eliminated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hallucination-freedom claim is made anywhere in the project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420136641"/>
                  </a:ext>
                </a:extLst>
              </a:tr>
              <a:tr h="580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[10]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Grattafiori et al., </a:t>
                      </a:r>
                      <a:r>
                        <a:rPr lang="en-IN" sz="1800" b="0" i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The Llama 3 Herd of Models</a:t>
                      </a: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2024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Open-weight models viable for local deployment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llama3.1:8b adopted provisionally for schema-constrained generation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17498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43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42090" cy="5445261"/>
          </a:xfrm>
        </p:spPr>
        <p:txBody>
          <a:bodyPr/>
          <a:lstStyle/>
          <a:p>
            <a:pPr marL="0" indent="0">
              <a:buNone/>
            </a:pPr>
            <a:r>
              <a:rPr lang="en-IN" sz="2100" dirty="0">
                <a:solidFill>
                  <a:srgbClr val="1C4D98"/>
                </a:solidFill>
                <a:latin typeface="+mn-lt"/>
              </a:rPr>
              <a:t>What the literature settles</a:t>
            </a:r>
            <a:endParaRPr lang="en-IN" sz="2100" b="0" dirty="0">
              <a:solidFill>
                <a:srgbClr val="1C4D98"/>
              </a:solidFill>
              <a:latin typeface="+mn-lt"/>
            </a:endParaRPr>
          </a:p>
          <a:p>
            <a:r>
              <a:rPr lang="en-IN" sz="2100" b="0" dirty="0">
                <a:solidFill>
                  <a:schemeClr val="tx1"/>
                </a:solidFill>
                <a:latin typeface="+mn-lt"/>
              </a:rPr>
              <a:t>Retrieval-augmented generation is the accepted way to ground a model in a document corpus [6], and hybrid lexical-plus-dense retrieval outperforms either alone [7][8]</a:t>
            </a:r>
          </a:p>
          <a:p>
            <a:r>
              <a:rPr lang="en-IN" sz="2100" b="0" dirty="0">
                <a:solidFill>
                  <a:schemeClr val="tx1"/>
                </a:solidFill>
                <a:latin typeface="+mn-lt"/>
              </a:rPr>
              <a:t>Hallucination is an intrinsic property of generative models — reduced by grounding, not removed [9]</a:t>
            </a:r>
          </a:p>
          <a:p>
            <a:r>
              <a:rPr lang="en-IN" sz="2100" b="0" dirty="0">
                <a:solidFill>
                  <a:schemeClr val="tx1"/>
                </a:solidFill>
                <a:latin typeface="+mn-lt"/>
              </a:rPr>
              <a:t>Models asked to cite their sources produce citations that are frequently unfaithful to the text they point at [1][2]</a:t>
            </a:r>
          </a:p>
          <a:p>
            <a:r>
              <a:rPr lang="en-IN" sz="2100" b="0" dirty="0">
                <a:solidFill>
                  <a:schemeClr val="tx1"/>
                </a:solidFill>
                <a:latin typeface="+mn-lt"/>
              </a:rPr>
              <a:t>Long contexts are not free: evidence placed mid-context is used measurably less well [3]</a:t>
            </a:r>
          </a:p>
          <a:p>
            <a:pPr marL="0" indent="0">
              <a:buNone/>
            </a:pPr>
            <a:r>
              <a:rPr lang="en-IN" sz="2100" dirty="0">
                <a:solidFill>
                  <a:srgbClr val="1C4D98"/>
                </a:solidFill>
                <a:latin typeface="+mn-lt"/>
              </a:rPr>
              <a:t>What FinSight does differently?</a:t>
            </a:r>
          </a:p>
          <a:p>
            <a:r>
              <a:rPr lang="en-IN" sz="2100" b="0" dirty="0">
                <a:solidFill>
                  <a:schemeClr val="tx1"/>
                </a:solidFill>
                <a:latin typeface="+mn-lt"/>
              </a:rPr>
              <a:t>Verification is deterministic and external: citations resolved by code against stored element identifiers, every factual numeral matched against the spans its own claim cites, unsupported claims removed before release</a:t>
            </a:r>
          </a:p>
          <a:p>
            <a:r>
              <a:rPr lang="en-IN" sz="2100" b="0" dirty="0">
                <a:solidFill>
                  <a:schemeClr val="tx1"/>
                </a:solidFill>
                <a:latin typeface="+mn-lt"/>
              </a:rPr>
              <a:t>No model is selected on published rank. [7] is the reason: benchmark performance is evidence about that benchmark's corpus, not about Indian annual reports. Every model is marked provisional pending a domain-specific golden 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386943" y="57036"/>
            <a:ext cx="7805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FinSight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An Evidence-Grounded Financial Filing Analyst powered by Hybrid RAG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31204" cy="5445263"/>
          </a:xfrm>
        </p:spPr>
        <p:txBody>
          <a:bodyPr/>
          <a:lstStyle/>
          <a:p>
            <a:pPr marL="0" indent="0">
              <a:buNone/>
            </a:pPr>
            <a:r>
              <a:rPr lang="en-IN" sz="2600" dirty="0">
                <a:solidFill>
                  <a:srgbClr val="1C4D98"/>
                </a:solidFill>
              </a:rPr>
              <a:t>Future extensions</a:t>
            </a:r>
            <a:endParaRPr lang="en-IN" sz="2600" b="0" dirty="0">
              <a:solidFill>
                <a:srgbClr val="1C4D98"/>
              </a:solidFill>
            </a:endParaRPr>
          </a:p>
          <a:p>
            <a:r>
              <a:rPr lang="en-IN" sz="2600" b="0" dirty="0">
                <a:solidFill>
                  <a:schemeClr val="tx1"/>
                </a:solidFill>
              </a:rPr>
              <a:t>Evaluation harness and golden question set — unlocks six decisions currently recorded as provisional (embedding model, reranker, lexical path, chunk size, fusion constant, table admission)</a:t>
            </a:r>
          </a:p>
          <a:p>
            <a:r>
              <a:rPr lang="en-IN" sz="2600" b="0" dirty="0">
                <a:solidFill>
                  <a:schemeClr val="tx1"/>
                </a:solidFill>
              </a:rPr>
              <a:t>Table cells as first-class evidence — 23,613 cells already extracted with header and row-label paths but not yet retrievable</a:t>
            </a:r>
          </a:p>
          <a:p>
            <a:r>
              <a:rPr lang="en-IN" sz="2600" b="0" dirty="0">
                <a:solidFill>
                  <a:schemeClr val="tx1"/>
                </a:solidFill>
              </a:rPr>
              <a:t>Fact Ledger — bounded catalogue of canonical financial concepts, enabling period comparison, trends and charts</a:t>
            </a:r>
          </a:p>
          <a:p>
            <a:r>
              <a:rPr lang="en-IN" sz="2600" b="0" dirty="0">
                <a:solidFill>
                  <a:schemeClr val="tx1"/>
                </a:solidFill>
              </a:rPr>
              <a:t>Asynchronous worker tier — upload route, restricted parser worker, processing worker</a:t>
            </a:r>
          </a:p>
          <a:p>
            <a:r>
              <a:rPr lang="en-IN" sz="2600" b="0" dirty="0">
                <a:solidFill>
                  <a:schemeClr val="tx1"/>
                </a:solidFill>
              </a:rPr>
              <a:t>Production hardening — CI image builds, vulnerability scanning, multi-user authentication, observability, backup and retention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332515" y="57036"/>
            <a:ext cx="785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FinSight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An Evidence-Grounded Financial Filing Analyst powered by Hybrid RAG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8C89-ECE9-F339-BF0B-B99093C4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E85F1C-697B-7F71-CA16-D43B26590D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31204" cy="5347291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latin typeface="+mn-lt"/>
              </a:rPr>
              <a:t>Intake &amp; Storage:</a:t>
            </a:r>
            <a:r>
              <a:rPr lang="en-IN" sz="2400" b="0" dirty="0">
                <a:latin typeface="+mn-lt"/>
              </a:rPr>
              <a:t>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Validates untrusted uploads; stores originals content-addressed and immutable.</a:t>
            </a: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Extraction:</a:t>
            </a:r>
            <a:r>
              <a:rPr lang="en-IN" sz="2400" b="0" dirty="0">
                <a:latin typeface="+mn-lt"/>
              </a:rPr>
              <a:t>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PyMuPDF and Docling produce pages, blocks, tables, cells and footnotes with page coordinates.</a:t>
            </a: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Chunking:</a:t>
            </a:r>
            <a:r>
              <a:rPr lang="en-IN" sz="2400" b="0" dirty="0">
                <a:latin typeface="+mn-lt"/>
              </a:rPr>
              <a:t>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Structure-aware splitting into focused child passages and broader parent passages.</a:t>
            </a: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Indexing:</a:t>
            </a:r>
            <a:r>
              <a:rPr lang="en-IN" sz="2400" b="0" dirty="0">
                <a:latin typeface="+mn-lt"/>
              </a:rPr>
              <a:t>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Local embeddings and BM25 term weights written to Qdrant through a transactional outbox.</a:t>
            </a: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Retrieval:</a:t>
            </a:r>
            <a:r>
              <a:rPr lang="en-IN" sz="2400" b="0" dirty="0">
                <a:latin typeface="+mn-lt"/>
              </a:rPr>
              <a:t>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Keyword and dense search under hard filters, fused by reciprocal rank, reordered by a cross-encoder.</a:t>
            </a: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Generation:</a:t>
            </a:r>
            <a:r>
              <a:rPr lang="en-IN" sz="2400" b="0" dirty="0">
                <a:latin typeface="+mn-lt"/>
              </a:rPr>
              <a:t>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Schema-constrained model, citation resolution, Evidence Gate, one recorded decision per answer.</a:t>
            </a: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Surfaces:</a:t>
            </a:r>
            <a:r>
              <a:rPr lang="en-IN" sz="2400" b="0" dirty="0">
                <a:latin typeface="+mn-lt"/>
              </a:rPr>
              <a:t>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Authenticated REST API, Streamlit interface, operator command line.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8555C-031C-F334-F765-331B82EAF7C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 to cover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39005A2-44D2-4216-2A24-01A73DCD41C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68D51A7-571E-5C64-FB7D-7BE09D38FBD9}"/>
              </a:ext>
            </a:extLst>
          </p:cNvPr>
          <p:cNvSpPr txBox="1"/>
          <p:nvPr/>
        </p:nvSpPr>
        <p:spPr>
          <a:xfrm>
            <a:off x="4430487" y="57036"/>
            <a:ext cx="776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FinSight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An Evidence-Grounded Financial Filing Analyst powered by Hybrid RAG</a:t>
            </a:r>
          </a:p>
        </p:txBody>
      </p:sp>
    </p:spTree>
    <p:extLst>
      <p:ext uri="{BB962C8B-B14F-4D97-AF65-F5344CB8AC3E}">
        <p14:creationId xmlns:p14="http://schemas.microsoft.com/office/powerpoint/2010/main" val="29659164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1173</Words>
  <Application>Microsoft Office PowerPoint</Application>
  <PresentationFormat>Widescreen</PresentationFormat>
  <Paragraphs>122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Calibri (Body)</vt:lpstr>
      <vt:lpstr>Frutiger 45 bold</vt:lpstr>
      <vt:lpstr>Frutiger LT Pro 45 Light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Dhayanidhi RS</cp:lastModifiedBy>
  <cp:revision>25</cp:revision>
  <dcterms:created xsi:type="dcterms:W3CDTF">2024-05-13T10:33:11Z</dcterms:created>
  <dcterms:modified xsi:type="dcterms:W3CDTF">2026-10-13T08:37:35Z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