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147470504" r:id="rId2"/>
    <p:sldId id="2147470506" r:id="rId3"/>
    <p:sldId id="2147470508" r:id="rId4"/>
    <p:sldId id="2147470509" r:id="rId5"/>
    <p:sldId id="2147470515" r:id="rId6"/>
    <p:sldId id="2147470522" r:id="rId7"/>
    <p:sldId id="2147470497" r:id="rId8"/>
    <p:sldId id="2147470527" r:id="rId9"/>
    <p:sldId id="2147470526" r:id="rId10"/>
    <p:sldId id="2147470519" r:id="rId11"/>
    <p:sldId id="2147470500" r:id="rId12"/>
    <p:sldId id="2147470528" r:id="rId13"/>
    <p:sldId id="2147470529" r:id="rId14"/>
    <p:sldId id="214747049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954920-2D1F-49CB-A53B-B014825A5125}" type="datetimeFigureOut">
              <a:rPr lang="en-IN" smtClean="0"/>
              <a:t>13-10-2026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CC0A4C-0812-464E-B0CA-E60B3F6FCF82}" type="slidenum">
              <a:rPr lang="en-IN" smtClean="0"/>
              <a:t>‹#›</a:t>
            </a:fld>
            <a:endParaRPr lang="en-IN"/>
          </a:p>
        </p:txBody>
      </p:sp>
    </p:spTree>
    <p:extLst>
      <p:ext uri="{BB962C8B-B14F-4D97-AF65-F5344CB8AC3E}">
        <p14:creationId xmlns:p14="http://schemas.microsoft.com/office/powerpoint/2010/main" val="2438892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145041-4B97-4394-AFDC-A96C4B2AF6D4}" type="slidenum">
              <a:rPr lang="en-IN" smtClean="0"/>
              <a:t>10</a:t>
            </a:fld>
            <a:endParaRPr lang="en-IN"/>
          </a:p>
        </p:txBody>
      </p:sp>
    </p:spTree>
    <p:extLst>
      <p:ext uri="{BB962C8B-B14F-4D97-AF65-F5344CB8AC3E}">
        <p14:creationId xmlns:p14="http://schemas.microsoft.com/office/powerpoint/2010/main" val="601173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977350" y="42067"/>
            <a:ext cx="6388174"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3162886" y="1090041"/>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377762" y="1211685"/>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5" y="1659822"/>
            <a:ext cx="11815822" cy="609397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Project Title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600" b="1" dirty="0">
              <a:solidFill>
                <a:prstClr val="white"/>
              </a:solidFill>
              <a:cs typeface="Calibri" panose="020F0502020204030204" pitchFamily="34" charset="0"/>
            </a:endParaRPr>
          </a:p>
          <a:p>
            <a:pPr lvl="0" algn="ctr">
              <a:defRPr/>
            </a:pPr>
            <a:r>
              <a:rPr lang="en-US" sz="3600" b="1" dirty="0" err="1">
                <a:solidFill>
                  <a:prstClr val="white"/>
                </a:solidFill>
                <a:cs typeface="Calibri" panose="020F0502020204030204" pitchFamily="34" charset="0"/>
              </a:rPr>
              <a:t>FinSight</a:t>
            </a:r>
            <a:r>
              <a:rPr lang="en-US" sz="3600" b="1" dirty="0">
                <a:solidFill>
                  <a:prstClr val="white"/>
                </a:solidFill>
                <a:cs typeface="Calibri" panose="020F0502020204030204" pitchFamily="34" charset="0"/>
              </a:rPr>
              <a:t>: An Evidence-Grounded Financial Filing Analyst powered by Hybrid RAG</a:t>
            </a: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Dhayanidhi R S</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483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21274" y="1271219"/>
            <a:ext cx="11753011" cy="5325520"/>
          </a:xfrm>
        </p:spPr>
        <p:txBody>
          <a:bodyPr/>
          <a:lstStyle/>
          <a:p>
            <a:pPr algn="just" fontAlgn="t">
              <a:lnSpc>
                <a:spcPct val="100000"/>
              </a:lnSpc>
              <a:buNone/>
            </a:pPr>
            <a:r>
              <a:rPr lang="en-IN" sz="2500" dirty="0">
                <a:latin typeface="Calibri (Body)"/>
              </a:rPr>
              <a:t>Background &amp; Problem Statement</a:t>
            </a:r>
          </a:p>
          <a:p>
            <a:pPr algn="just" fontAlgn="t">
              <a:lnSpc>
                <a:spcPct val="100000"/>
              </a:lnSpc>
              <a:buNone/>
            </a:pPr>
            <a:r>
              <a:rPr lang="en-IN" sz="2500" b="0" dirty="0">
                <a:latin typeface="Calibri (Body)"/>
              </a:rPr>
              <a:t>	</a:t>
            </a:r>
            <a:r>
              <a:rPr lang="en-IN" sz="2500" b="0" dirty="0">
                <a:solidFill>
                  <a:schemeClr val="tx1"/>
                </a:solidFill>
              </a:rPr>
              <a:t>Company financial filings contain valuable information across lengthy narratives, complex tables, financial statements, and notes. Analysts must manually search, interpret, compare, and verify this information.</a:t>
            </a:r>
            <a:endParaRPr lang="en-IN" sz="2500" b="0" dirty="0">
              <a:solidFill>
                <a:schemeClr val="tx1"/>
              </a:solidFill>
              <a:latin typeface="Calibri (Body)"/>
            </a:endParaRPr>
          </a:p>
          <a:p>
            <a:pPr algn="just" fontAlgn="t">
              <a:lnSpc>
                <a:spcPct val="100000"/>
              </a:lnSpc>
              <a:buNone/>
            </a:pPr>
            <a:r>
              <a:rPr lang="en-IN" sz="2500" b="0" dirty="0">
                <a:solidFill>
                  <a:schemeClr val="tx1"/>
                </a:solidFill>
                <a:latin typeface="Calibri (Body)"/>
              </a:rPr>
              <a:t>	Generic document-question-answering systems may: </a:t>
            </a:r>
          </a:p>
          <a:p>
            <a:pPr lvl="2" algn="just" fontAlgn="t">
              <a:lnSpc>
                <a:spcPct val="100000"/>
              </a:lnSpc>
            </a:pPr>
            <a:r>
              <a:rPr lang="en-IN" sz="2500" b="0" dirty="0">
                <a:solidFill>
                  <a:schemeClr val="tx1"/>
                </a:solidFill>
                <a:latin typeface="Calibri (Body)"/>
              </a:rPr>
              <a:t>confuse fiscal periods, currencies, or presentation units.</a:t>
            </a:r>
          </a:p>
          <a:p>
            <a:pPr lvl="2" algn="just" fontAlgn="t">
              <a:lnSpc>
                <a:spcPct val="100000"/>
              </a:lnSpc>
            </a:pPr>
            <a:r>
              <a:rPr lang="en-IN" sz="2500" b="0" dirty="0">
                <a:solidFill>
                  <a:schemeClr val="tx1"/>
                </a:solidFill>
                <a:latin typeface="Calibri (Body)"/>
              </a:rPr>
              <a:t>provide answers without precise source evidence.</a:t>
            </a:r>
          </a:p>
          <a:p>
            <a:pPr algn="just" fontAlgn="t">
              <a:lnSpc>
                <a:spcPct val="100000"/>
              </a:lnSpc>
              <a:buNone/>
            </a:pPr>
            <a:r>
              <a:rPr lang="en-IN" sz="2500" dirty="0">
                <a:latin typeface="Calibri (Body)"/>
              </a:rPr>
              <a:t>Proposed System</a:t>
            </a:r>
          </a:p>
          <a:p>
            <a:pPr algn="just" fontAlgn="t">
              <a:lnSpc>
                <a:spcPct val="100000"/>
              </a:lnSpc>
              <a:buNone/>
            </a:pPr>
            <a:r>
              <a:rPr lang="en-IN" sz="2500" dirty="0">
                <a:latin typeface="Calibri (Body)"/>
              </a:rPr>
              <a:t>	</a:t>
            </a:r>
            <a:r>
              <a:rPr lang="en-IN" sz="2500" dirty="0">
                <a:solidFill>
                  <a:schemeClr val="tx1"/>
                </a:solidFill>
              </a:rPr>
              <a:t>FinSight</a:t>
            </a:r>
            <a:r>
              <a:rPr lang="en-IN" sz="2500" b="0" dirty="0">
                <a:solidFill>
                  <a:schemeClr val="tx1"/>
                </a:solidFill>
              </a:rPr>
              <a:t> combines full-document Hybrid RAG with a structured Financial Fact Ledger to:</a:t>
            </a:r>
          </a:p>
          <a:p>
            <a:pPr marL="1257300" lvl="2" indent="-342900" algn="just" fontAlgn="t">
              <a:lnSpc>
                <a:spcPct val="100000"/>
              </a:lnSpc>
            </a:pPr>
            <a:r>
              <a:rPr lang="en-IN" sz="2500" b="0" dirty="0">
                <a:solidFill>
                  <a:schemeClr val="tx1"/>
                </a:solidFill>
              </a:rPr>
              <a:t>answer natural-language queries and comparisons.</a:t>
            </a:r>
          </a:p>
          <a:p>
            <a:pPr marL="1257300" lvl="2" indent="-342900" algn="just" fontAlgn="t">
              <a:lnSpc>
                <a:spcPct val="100000"/>
              </a:lnSpc>
            </a:pPr>
            <a:r>
              <a:rPr lang="en-IN" sz="2500" b="0" dirty="0">
                <a:solidFill>
                  <a:schemeClr val="tx1"/>
                </a:solidFill>
              </a:rPr>
              <a:t>provide evidence-grounded answers with traceable citations.</a:t>
            </a:r>
          </a:p>
          <a:p>
            <a:pPr algn="just" fontAlgn="t">
              <a:lnSpc>
                <a:spcPct val="100000"/>
              </a:lnSpc>
              <a:buNone/>
            </a:pPr>
            <a:endParaRPr lang="en-US" sz="2500" b="0" dirty="0">
              <a:solidFill>
                <a:srgbClr val="5583D1"/>
              </a:solidFill>
              <a:latin typeface="Calibri (Body)"/>
            </a:endParaRPr>
          </a:p>
          <a:p>
            <a:pPr marL="0" indent="0" algn="just">
              <a:lnSpc>
                <a:spcPct val="100000"/>
              </a:lnSpc>
              <a:buNone/>
            </a:pPr>
            <a:endParaRPr lang="en-US" sz="2500" b="0" dirty="0">
              <a:solidFill>
                <a:srgbClr val="5583D1"/>
              </a:solidFill>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err="1">
                <a:ln>
                  <a:noFill/>
                </a:ln>
                <a:solidFill>
                  <a:srgbClr val="5B9BD5">
                    <a:lumMod val="50000"/>
                  </a:srgbClr>
                </a:solidFill>
                <a:effectLst/>
                <a:uLnTx/>
                <a:uFillTx/>
                <a:latin typeface="Calibri" panose="020F0502020204030204"/>
                <a:ea typeface="+mn-ea"/>
                <a:cs typeface="+mn-cs"/>
              </a:rPr>
              <a:t>Introductio</a:t>
            </a:r>
            <a:r>
              <a:rPr lang="en-US" sz="3600" b="1" dirty="0">
                <a:solidFill>
                  <a:srgbClr val="5B9BD5">
                    <a:lumMod val="50000"/>
                  </a:srgbClr>
                </a:solidFill>
                <a:latin typeface="Calibri" panose="020F0502020204030204"/>
              </a:rPr>
              <a:t>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4419600" y="0"/>
            <a:ext cx="7772401"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spTree>
    <p:extLst>
      <p:ext uri="{BB962C8B-B14F-4D97-AF65-F5344CB8AC3E}">
        <p14:creationId xmlns:p14="http://schemas.microsoft.com/office/powerpoint/2010/main" val="1931322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97A0E-978F-77C5-C52D-D5CCB9B122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DB9C926-C57D-BB32-05A5-B4AEDD8D6FD9}"/>
              </a:ext>
            </a:extLst>
          </p:cNvPr>
          <p:cNvSpPr>
            <a:spLocks noGrp="1"/>
          </p:cNvSpPr>
          <p:nvPr>
            <p:ph type="body" sz="quarter" idx="13"/>
          </p:nvPr>
        </p:nvSpPr>
        <p:spPr>
          <a:xfrm>
            <a:off x="255996" y="1271219"/>
            <a:ext cx="11631204" cy="5358177"/>
          </a:xfrm>
        </p:spPr>
        <p:txBody>
          <a:bodyPr/>
          <a:lstStyle/>
          <a:p>
            <a:pPr lvl="0">
              <a:lnSpc>
                <a:spcPct val="100000"/>
              </a:lnSpc>
              <a:buFont typeface="Wingdings" panose="05000000000000000000" pitchFamily="2" charset="2"/>
              <a:buChar char="Ø"/>
            </a:pPr>
            <a:r>
              <a:rPr lang="en-IN" sz="2600" dirty="0">
                <a:solidFill>
                  <a:schemeClr val="tx1"/>
                </a:solidFill>
                <a:latin typeface="+mn-lt"/>
              </a:rPr>
              <a:t>Preserve</a:t>
            </a:r>
            <a:r>
              <a:rPr lang="en-IN" sz="2600" b="0" dirty="0">
                <a:solidFill>
                  <a:schemeClr val="tx1"/>
                </a:solidFill>
                <a:latin typeface="+mn-lt"/>
              </a:rPr>
              <a:t> every filing byte-for-byte with verifiable identity, and keep the original immutable</a:t>
            </a:r>
          </a:p>
          <a:p>
            <a:pPr lvl="0">
              <a:lnSpc>
                <a:spcPct val="100000"/>
              </a:lnSpc>
              <a:buFont typeface="Wingdings" panose="05000000000000000000" pitchFamily="2" charset="2"/>
              <a:buChar char="Ø"/>
            </a:pPr>
            <a:r>
              <a:rPr lang="en-IN" sz="2600" dirty="0">
                <a:solidFill>
                  <a:schemeClr val="tx1"/>
                </a:solidFill>
                <a:latin typeface="+mn-lt"/>
              </a:rPr>
              <a:t>Extract</a:t>
            </a:r>
            <a:r>
              <a:rPr lang="en-IN" sz="2600" b="0" dirty="0">
                <a:solidFill>
                  <a:schemeClr val="tx1"/>
                </a:solidFill>
                <a:latin typeface="+mn-lt"/>
              </a:rPr>
              <a:t> a citable source representation — pages, blocks, tables and footnotes with exact coordinates</a:t>
            </a:r>
          </a:p>
          <a:p>
            <a:pPr lvl="0">
              <a:lnSpc>
                <a:spcPct val="100000"/>
              </a:lnSpc>
              <a:buFont typeface="Wingdings" panose="05000000000000000000" pitchFamily="2" charset="2"/>
              <a:buChar char="Ø"/>
            </a:pPr>
            <a:r>
              <a:rPr lang="en-IN" sz="2600" dirty="0">
                <a:solidFill>
                  <a:schemeClr val="tx1"/>
                </a:solidFill>
                <a:latin typeface="+mn-lt"/>
              </a:rPr>
              <a:t>Retrieve</a:t>
            </a:r>
            <a:r>
              <a:rPr lang="en-IN" sz="2600" b="0" dirty="0">
                <a:solidFill>
                  <a:schemeClr val="tx1"/>
                </a:solidFill>
                <a:latin typeface="+mn-lt"/>
              </a:rPr>
              <a:t> passages by both wording and meaning, under scope filters that similarity cannot override</a:t>
            </a:r>
          </a:p>
          <a:p>
            <a:pPr lvl="0">
              <a:lnSpc>
                <a:spcPct val="100000"/>
              </a:lnSpc>
              <a:buFont typeface="Wingdings" panose="05000000000000000000" pitchFamily="2" charset="2"/>
              <a:buChar char="Ø"/>
            </a:pPr>
            <a:r>
              <a:rPr lang="en-IN" sz="2600" dirty="0">
                <a:solidFill>
                  <a:schemeClr val="tx1"/>
                </a:solidFill>
                <a:latin typeface="+mn-lt"/>
              </a:rPr>
              <a:t>Generate</a:t>
            </a:r>
            <a:r>
              <a:rPr lang="en-IN" sz="2600" b="0" dirty="0">
                <a:solidFill>
                  <a:schemeClr val="tx1"/>
                </a:solidFill>
                <a:latin typeface="+mn-lt"/>
              </a:rPr>
              <a:t> answers in which every claim cites the stored source span it rests on</a:t>
            </a:r>
          </a:p>
          <a:p>
            <a:pPr lvl="0">
              <a:lnSpc>
                <a:spcPct val="100000"/>
              </a:lnSpc>
              <a:buFont typeface="Wingdings" panose="05000000000000000000" pitchFamily="2" charset="2"/>
              <a:buChar char="Ø"/>
            </a:pPr>
            <a:r>
              <a:rPr lang="en-IN" sz="2600" dirty="0">
                <a:solidFill>
                  <a:schemeClr val="tx1"/>
                </a:solidFill>
                <a:latin typeface="+mn-lt"/>
              </a:rPr>
              <a:t>Verify</a:t>
            </a:r>
            <a:r>
              <a:rPr lang="en-IN" sz="2600" b="0" dirty="0">
                <a:solidFill>
                  <a:schemeClr val="tx1"/>
                </a:solidFill>
                <a:latin typeface="+mn-lt"/>
              </a:rPr>
              <a:t> every numeral against the span its own claim cites, and remove any claim that fails</a:t>
            </a:r>
          </a:p>
          <a:p>
            <a:pPr lvl="0">
              <a:lnSpc>
                <a:spcPct val="100000"/>
              </a:lnSpc>
              <a:buFont typeface="Wingdings" panose="05000000000000000000" pitchFamily="2" charset="2"/>
              <a:buChar char="Ø"/>
            </a:pPr>
            <a:r>
              <a:rPr lang="en-IN" sz="2600" dirty="0">
                <a:solidFill>
                  <a:schemeClr val="tx1"/>
                </a:solidFill>
                <a:latin typeface="+mn-lt"/>
              </a:rPr>
              <a:t>Record</a:t>
            </a:r>
            <a:r>
              <a:rPr lang="en-IN" sz="2600" b="0" dirty="0">
                <a:solidFill>
                  <a:schemeClr val="tx1"/>
                </a:solidFill>
                <a:latin typeface="+mn-lt"/>
              </a:rPr>
              <a:t> every answer, decision and reason for audit.</a:t>
            </a:r>
          </a:p>
        </p:txBody>
      </p:sp>
      <p:sp>
        <p:nvSpPr>
          <p:cNvPr id="3" name="TextBox 2">
            <a:extLst>
              <a:ext uri="{FF2B5EF4-FFF2-40B4-BE49-F238E27FC236}">
                <a16:creationId xmlns:a16="http://schemas.microsoft.com/office/drawing/2014/main" id="{A3553E4E-352D-57A1-1647-A436C7B949CC}"/>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Objectives</a:t>
            </a:r>
          </a:p>
        </p:txBody>
      </p:sp>
      <p:cxnSp>
        <p:nvCxnSpPr>
          <p:cNvPr id="5" name="Straight Connector 4">
            <a:extLst>
              <a:ext uri="{FF2B5EF4-FFF2-40B4-BE49-F238E27FC236}">
                <a16:creationId xmlns:a16="http://schemas.microsoft.com/office/drawing/2014/main" id="{8B5FB60F-7AAA-2378-6E76-2861C642BB8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423F60-2CFD-E343-F6DC-C0957453B8DD}"/>
              </a:ext>
            </a:extLst>
          </p:cNvPr>
          <p:cNvSpPr txBox="1"/>
          <p:nvPr/>
        </p:nvSpPr>
        <p:spPr>
          <a:xfrm>
            <a:off x="4376057" y="57036"/>
            <a:ext cx="7815943"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spTree>
    <p:extLst>
      <p:ext uri="{BB962C8B-B14F-4D97-AF65-F5344CB8AC3E}">
        <p14:creationId xmlns:p14="http://schemas.microsoft.com/office/powerpoint/2010/main" val="3027957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08C89-ECE9-F339-BF0B-B99093C4CEF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DE85F1C-697B-7F71-CA16-D43B26590D19}"/>
              </a:ext>
            </a:extLst>
          </p:cNvPr>
          <p:cNvSpPr>
            <a:spLocks noGrp="1"/>
          </p:cNvSpPr>
          <p:nvPr>
            <p:ph type="body" sz="quarter" idx="13"/>
          </p:nvPr>
        </p:nvSpPr>
        <p:spPr>
          <a:xfrm>
            <a:off x="255996" y="1271219"/>
            <a:ext cx="11631204" cy="5347291"/>
          </a:xfrm>
        </p:spPr>
        <p:txBody>
          <a:bodyPr/>
          <a:lstStyle/>
          <a:p>
            <a:pPr marL="0" indent="0">
              <a:buNone/>
            </a:pPr>
            <a:r>
              <a:rPr lang="en-IN" sz="2400" dirty="0">
                <a:latin typeface="+mn-lt"/>
              </a:rPr>
              <a:t>Intake &amp; Storage:</a:t>
            </a:r>
            <a:r>
              <a:rPr lang="en-IN" sz="2400" b="0" dirty="0">
                <a:latin typeface="+mn-lt"/>
              </a:rPr>
              <a:t> </a:t>
            </a:r>
            <a:r>
              <a:rPr lang="en-IN" sz="2400" b="0" dirty="0">
                <a:solidFill>
                  <a:schemeClr val="tx1"/>
                </a:solidFill>
                <a:latin typeface="+mn-lt"/>
              </a:rPr>
              <a:t>Validates untrusted uploads; stores originals content-addressed and immutable.</a:t>
            </a:r>
          </a:p>
          <a:p>
            <a:pPr marL="0" indent="0">
              <a:buNone/>
            </a:pPr>
            <a:r>
              <a:rPr lang="en-IN" sz="2400" dirty="0">
                <a:latin typeface="+mn-lt"/>
              </a:rPr>
              <a:t>Extraction:</a:t>
            </a:r>
            <a:r>
              <a:rPr lang="en-IN" sz="2400" b="0" dirty="0">
                <a:latin typeface="+mn-lt"/>
              </a:rPr>
              <a:t> </a:t>
            </a:r>
            <a:r>
              <a:rPr lang="en-IN" sz="2400" b="0" dirty="0">
                <a:solidFill>
                  <a:schemeClr val="tx1"/>
                </a:solidFill>
                <a:latin typeface="+mn-lt"/>
              </a:rPr>
              <a:t>PyMuPDF and Docling produce pages, blocks, tables, cells and footnotes with page coordinates.</a:t>
            </a:r>
          </a:p>
          <a:p>
            <a:pPr marL="0" indent="0">
              <a:buNone/>
            </a:pPr>
            <a:r>
              <a:rPr lang="en-IN" sz="2400" dirty="0">
                <a:latin typeface="+mn-lt"/>
              </a:rPr>
              <a:t>Chunking:</a:t>
            </a:r>
            <a:r>
              <a:rPr lang="en-IN" sz="2400" b="0" dirty="0">
                <a:latin typeface="+mn-lt"/>
              </a:rPr>
              <a:t> </a:t>
            </a:r>
            <a:r>
              <a:rPr lang="en-IN" sz="2400" b="0" dirty="0">
                <a:solidFill>
                  <a:schemeClr val="tx1"/>
                </a:solidFill>
                <a:latin typeface="+mn-lt"/>
              </a:rPr>
              <a:t>Structure-aware splitting into focused child passages and broader parent passages.</a:t>
            </a:r>
          </a:p>
          <a:p>
            <a:pPr marL="0" indent="0">
              <a:buNone/>
            </a:pPr>
            <a:r>
              <a:rPr lang="en-IN" sz="2400" dirty="0">
                <a:latin typeface="+mn-lt"/>
              </a:rPr>
              <a:t>Indexing:</a:t>
            </a:r>
            <a:r>
              <a:rPr lang="en-IN" sz="2400" b="0" dirty="0">
                <a:latin typeface="+mn-lt"/>
              </a:rPr>
              <a:t> </a:t>
            </a:r>
            <a:r>
              <a:rPr lang="en-IN" sz="2400" b="0" dirty="0">
                <a:solidFill>
                  <a:schemeClr val="tx1"/>
                </a:solidFill>
                <a:latin typeface="+mn-lt"/>
              </a:rPr>
              <a:t>Local embeddings and BM25 term weights written to Qdrant through a transactional outbox.</a:t>
            </a:r>
          </a:p>
          <a:p>
            <a:pPr marL="0" indent="0">
              <a:buNone/>
            </a:pPr>
            <a:r>
              <a:rPr lang="en-IN" sz="2400" dirty="0">
                <a:latin typeface="+mn-lt"/>
              </a:rPr>
              <a:t>Retrieval:</a:t>
            </a:r>
            <a:r>
              <a:rPr lang="en-IN" sz="2400" b="0" dirty="0">
                <a:latin typeface="+mn-lt"/>
              </a:rPr>
              <a:t> </a:t>
            </a:r>
            <a:r>
              <a:rPr lang="en-IN" sz="2400" b="0" dirty="0">
                <a:solidFill>
                  <a:schemeClr val="tx1"/>
                </a:solidFill>
                <a:latin typeface="+mn-lt"/>
              </a:rPr>
              <a:t>Keyword and dense search under hard filters, fused by reciprocal rank, reordered by a cross-encoder.</a:t>
            </a:r>
          </a:p>
          <a:p>
            <a:pPr marL="0" indent="0">
              <a:buNone/>
            </a:pPr>
            <a:r>
              <a:rPr lang="en-IN" sz="2400" dirty="0">
                <a:latin typeface="+mn-lt"/>
              </a:rPr>
              <a:t>Generation:</a:t>
            </a:r>
            <a:r>
              <a:rPr lang="en-IN" sz="2400" b="0" dirty="0">
                <a:latin typeface="+mn-lt"/>
              </a:rPr>
              <a:t> </a:t>
            </a:r>
            <a:r>
              <a:rPr lang="en-IN" sz="2400" b="0" dirty="0">
                <a:solidFill>
                  <a:schemeClr val="tx1"/>
                </a:solidFill>
                <a:latin typeface="+mn-lt"/>
              </a:rPr>
              <a:t>Schema-constrained model, citation resolution, Evidence Gate, one recorded decision per answer.</a:t>
            </a:r>
          </a:p>
          <a:p>
            <a:pPr marL="0" indent="0">
              <a:buNone/>
            </a:pPr>
            <a:r>
              <a:rPr lang="en-IN" sz="2400" dirty="0">
                <a:latin typeface="+mn-lt"/>
              </a:rPr>
              <a:t>Surfaces:</a:t>
            </a:r>
            <a:r>
              <a:rPr lang="en-IN" sz="2400" b="0" dirty="0">
                <a:latin typeface="+mn-lt"/>
              </a:rPr>
              <a:t> </a:t>
            </a:r>
            <a:r>
              <a:rPr lang="en-IN" sz="2400" b="0" dirty="0">
                <a:solidFill>
                  <a:schemeClr val="tx1"/>
                </a:solidFill>
                <a:latin typeface="+mn-lt"/>
              </a:rPr>
              <a:t>Authenticated REST API, Streamlit interface, operator command line.</a:t>
            </a:r>
          </a:p>
        </p:txBody>
      </p:sp>
      <p:sp>
        <p:nvSpPr>
          <p:cNvPr id="3" name="TextBox 2">
            <a:extLst>
              <a:ext uri="{FF2B5EF4-FFF2-40B4-BE49-F238E27FC236}">
                <a16:creationId xmlns:a16="http://schemas.microsoft.com/office/drawing/2014/main" id="{0778555C-031C-F334-F765-331B82EAF7CD}"/>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539005A2-44D2-4216-2A24-01A73DCD41C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68D51A7-571E-5C64-FB7D-7BE09D38FBD9}"/>
              </a:ext>
            </a:extLst>
          </p:cNvPr>
          <p:cNvSpPr txBox="1"/>
          <p:nvPr/>
        </p:nvSpPr>
        <p:spPr>
          <a:xfrm>
            <a:off x="4430487" y="57036"/>
            <a:ext cx="7761514"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spTree>
    <p:extLst>
      <p:ext uri="{BB962C8B-B14F-4D97-AF65-F5344CB8AC3E}">
        <p14:creationId xmlns:p14="http://schemas.microsoft.com/office/powerpoint/2010/main" val="2965916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13E22-DD54-C7AF-A577-E58B7BBF1A3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0E7648E-38A0-C198-2EE7-61A8060DF0EA}"/>
              </a:ext>
            </a:extLst>
          </p:cNvPr>
          <p:cNvSpPr>
            <a:spLocks noGrp="1"/>
          </p:cNvSpPr>
          <p:nvPr>
            <p:ph type="body" sz="quarter" idx="13"/>
          </p:nvPr>
        </p:nvSpPr>
        <p:spPr>
          <a:xfrm>
            <a:off x="255996" y="1271219"/>
            <a:ext cx="11642090" cy="5390833"/>
          </a:xfrm>
        </p:spPr>
        <p:txBody>
          <a:bodyPr/>
          <a:lstStyle/>
          <a:p>
            <a:pPr marL="457200" indent="-457200" algn="just">
              <a:lnSpc>
                <a:spcPct val="100000"/>
              </a:lnSpc>
              <a:buFont typeface="+mj-lt"/>
              <a:buAutoNum type="arabicPeriod"/>
            </a:pPr>
            <a:r>
              <a:rPr lang="en-IN" sz="2300" dirty="0">
                <a:solidFill>
                  <a:schemeClr val="tx1"/>
                </a:solidFill>
                <a:latin typeface="+mn-lt"/>
              </a:rPr>
              <a:t>Prepare the corpus</a:t>
            </a:r>
            <a:r>
              <a:rPr lang="en-IN" sz="2300" b="0" dirty="0">
                <a:solidFill>
                  <a:schemeClr val="tx1"/>
                </a:solidFill>
                <a:latin typeface="+mn-lt"/>
              </a:rPr>
              <a:t> </a:t>
            </a:r>
            <a:r>
              <a:rPr lang="en-IN" sz="2300" b="0" i="1" dirty="0">
                <a:solidFill>
                  <a:schemeClr val="tx1"/>
                </a:solidFill>
                <a:latin typeface="+mn-lt"/>
              </a:rPr>
              <a:t>(once per filing)</a:t>
            </a:r>
            <a:r>
              <a:rPr lang="en-IN" sz="2300" b="0" dirty="0">
                <a:solidFill>
                  <a:schemeClr val="tx1"/>
                </a:solidFill>
                <a:latin typeface="+mn-lt"/>
              </a:rPr>
              <a:t> Validate the file, preserve the original immutably, extract pages, blocks, tables and footnotes with coordinates, split into child units for matching and parent units for context, then index as dense vectors and BM25 term weights.</a:t>
            </a:r>
          </a:p>
          <a:p>
            <a:pPr marL="457200" indent="-457200" algn="just">
              <a:lnSpc>
                <a:spcPct val="100000"/>
              </a:lnSpc>
              <a:buFont typeface="+mj-lt"/>
              <a:buAutoNum type="arabicPeriod"/>
            </a:pPr>
            <a:r>
              <a:rPr lang="en-IN" sz="2300" dirty="0">
                <a:solidFill>
                  <a:schemeClr val="tx1"/>
                </a:solidFill>
                <a:latin typeface="+mn-lt"/>
              </a:rPr>
              <a:t>Retrieve</a:t>
            </a:r>
            <a:r>
              <a:rPr lang="en-IN" sz="2300" b="0" dirty="0">
                <a:solidFill>
                  <a:schemeClr val="tx1"/>
                </a:solidFill>
                <a:latin typeface="+mn-lt"/>
              </a:rPr>
              <a:t> </a:t>
            </a:r>
            <a:r>
              <a:rPr lang="en-IN" sz="2300" b="0" i="1" dirty="0">
                <a:solidFill>
                  <a:schemeClr val="tx1"/>
                </a:solidFill>
                <a:latin typeface="+mn-lt"/>
              </a:rPr>
              <a:t>(per question)</a:t>
            </a:r>
            <a:r>
              <a:rPr lang="en-IN" sz="2300" b="0" dirty="0">
                <a:solidFill>
                  <a:schemeClr val="tx1"/>
                </a:solidFill>
                <a:latin typeface="+mn-lt"/>
              </a:rPr>
              <a:t> Keyword and meaning search run together under hard scope filters, combined by reciprocal rank fusion, reordered by a cross-encoder, and de-duplicated so the same evidence is not counted twice.</a:t>
            </a:r>
          </a:p>
          <a:p>
            <a:pPr marL="457200" indent="-457200" algn="just">
              <a:lnSpc>
                <a:spcPct val="100000"/>
              </a:lnSpc>
              <a:buFont typeface="+mj-lt"/>
              <a:buAutoNum type="arabicPeriod"/>
            </a:pPr>
            <a:r>
              <a:rPr lang="en-IN" sz="2300" dirty="0">
                <a:solidFill>
                  <a:schemeClr val="tx1"/>
                </a:solidFill>
                <a:latin typeface="+mn-lt"/>
              </a:rPr>
              <a:t>Generate under constraint</a:t>
            </a:r>
            <a:r>
              <a:rPr lang="en-IN" sz="2300" b="0" dirty="0">
                <a:solidFill>
                  <a:schemeClr val="tx1"/>
                </a:solidFill>
                <a:latin typeface="+mn-lt"/>
              </a:rPr>
              <a:t> The model receives only the selected passages, labelled [1] [2] [3], and must reply in a fixed structure: claims plus the labels each claim rests on. It is instructed not to calculate, and permitted to say the passages do not answer.</a:t>
            </a:r>
          </a:p>
          <a:p>
            <a:pPr marL="457200" indent="-457200" algn="just">
              <a:lnSpc>
                <a:spcPct val="100000"/>
              </a:lnSpc>
              <a:buFont typeface="+mj-lt"/>
              <a:buAutoNum type="arabicPeriod"/>
            </a:pPr>
            <a:r>
              <a:rPr lang="en-IN" sz="2300" dirty="0">
                <a:solidFill>
                  <a:schemeClr val="tx1"/>
                </a:solidFill>
                <a:latin typeface="+mn-lt"/>
              </a:rPr>
              <a:t>Verify before release</a:t>
            </a:r>
            <a:r>
              <a:rPr lang="en-IN" sz="2300" b="0" dirty="0">
                <a:solidFill>
                  <a:schemeClr val="tx1"/>
                </a:solidFill>
                <a:latin typeface="+mn-lt"/>
              </a:rPr>
              <a:t> Code resolves every label back to the stored source text and checks that each figure, scale word and currency in a claim actually appears there. A claim that fails is removed; if nothing survives, the system abstains. Every answer is recorded with its decision and reasons.</a:t>
            </a:r>
          </a:p>
          <a:p>
            <a:pPr marL="0" indent="0" algn="just">
              <a:lnSpc>
                <a:spcPct val="100000"/>
              </a:lnSpc>
              <a:buNone/>
            </a:pPr>
            <a:endParaRPr lang="en-US" sz="2300" b="0" dirty="0">
              <a:solidFill>
                <a:schemeClr val="tx1"/>
              </a:solidFill>
              <a:latin typeface="+mn-lt"/>
            </a:endParaRPr>
          </a:p>
        </p:txBody>
      </p:sp>
      <p:sp>
        <p:nvSpPr>
          <p:cNvPr id="3" name="TextBox 2">
            <a:extLst>
              <a:ext uri="{FF2B5EF4-FFF2-40B4-BE49-F238E27FC236}">
                <a16:creationId xmlns:a16="http://schemas.microsoft.com/office/drawing/2014/main" id="{546BF29B-FB39-9117-1A68-62DD7BF587E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 / Modeling Plan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846E2998-476C-4D8F-9AC4-C7A9B3D63F1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30C694A-4381-E53D-F926-05E4809C320C}"/>
              </a:ext>
            </a:extLst>
          </p:cNvPr>
          <p:cNvSpPr txBox="1"/>
          <p:nvPr/>
        </p:nvSpPr>
        <p:spPr>
          <a:xfrm>
            <a:off x="4408715" y="57036"/>
            <a:ext cx="7783286"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spTree>
    <p:extLst>
      <p:ext uri="{BB962C8B-B14F-4D97-AF65-F5344CB8AC3E}">
        <p14:creationId xmlns:p14="http://schemas.microsoft.com/office/powerpoint/2010/main" val="2991201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0CB13-4B3B-296F-881F-26C51AA844F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7D4576-7087-AA0C-DE8D-2559F8A68EE1}"/>
              </a:ext>
            </a:extLst>
          </p:cNvPr>
          <p:cNvSpPr txBox="1"/>
          <p:nvPr/>
        </p:nvSpPr>
        <p:spPr>
          <a:xfrm>
            <a:off x="4408715" y="57036"/>
            <a:ext cx="7783286"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pic>
        <p:nvPicPr>
          <p:cNvPr id="9" name="Picture 8">
            <a:extLst>
              <a:ext uri="{FF2B5EF4-FFF2-40B4-BE49-F238E27FC236}">
                <a16:creationId xmlns:a16="http://schemas.microsoft.com/office/drawing/2014/main" id="{9BD8D704-4FD2-3AAD-5361-725FF945C070}"/>
              </a:ext>
            </a:extLst>
          </p:cNvPr>
          <p:cNvPicPr>
            <a:picLocks noChangeAspect="1"/>
          </p:cNvPicPr>
          <p:nvPr/>
        </p:nvPicPr>
        <p:blipFill>
          <a:blip r:embed="rId2"/>
          <a:stretch>
            <a:fillRect/>
          </a:stretch>
        </p:blipFill>
        <p:spPr>
          <a:xfrm>
            <a:off x="1415144" y="545198"/>
            <a:ext cx="9546772" cy="5789375"/>
          </a:xfrm>
          <a:prstGeom prst="rect">
            <a:avLst/>
          </a:prstGeom>
        </p:spPr>
      </p:pic>
    </p:spTree>
    <p:extLst>
      <p:ext uri="{BB962C8B-B14F-4D97-AF65-F5344CB8AC3E}">
        <p14:creationId xmlns:p14="http://schemas.microsoft.com/office/powerpoint/2010/main" val="2186758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preprocessing &amp; EDA</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4419601" y="57036"/>
            <a:ext cx="7772400"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graphicFrame>
        <p:nvGraphicFramePr>
          <p:cNvPr id="6" name="Table 5">
            <a:extLst>
              <a:ext uri="{FF2B5EF4-FFF2-40B4-BE49-F238E27FC236}">
                <a16:creationId xmlns:a16="http://schemas.microsoft.com/office/drawing/2014/main" id="{16689205-227E-3B05-D728-515C07C57054}"/>
              </a:ext>
            </a:extLst>
          </p:cNvPr>
          <p:cNvGraphicFramePr>
            <a:graphicFrameLocks noGrp="1"/>
          </p:cNvGraphicFramePr>
          <p:nvPr>
            <p:extLst>
              <p:ext uri="{D42A27DB-BD31-4B8C-83A1-F6EECF244321}">
                <p14:modId xmlns:p14="http://schemas.microsoft.com/office/powerpoint/2010/main" val="3520843843"/>
              </p:ext>
            </p:extLst>
          </p:nvPr>
        </p:nvGraphicFramePr>
        <p:xfrm>
          <a:off x="486227" y="2005755"/>
          <a:ext cx="9387116" cy="3741900"/>
        </p:xfrm>
        <a:graphic>
          <a:graphicData uri="http://schemas.openxmlformats.org/drawingml/2006/table">
            <a:tbl>
              <a:tblPr firstRow="1" bandRow="1">
                <a:tableStyleId>{5C22544A-7EE6-4342-B048-85BDC9FD1C3A}</a:tableStyleId>
              </a:tblPr>
              <a:tblGrid>
                <a:gridCol w="4693558">
                  <a:extLst>
                    <a:ext uri="{9D8B030D-6E8A-4147-A177-3AD203B41FA5}">
                      <a16:colId xmlns:a16="http://schemas.microsoft.com/office/drawing/2014/main" val="4270233445"/>
                    </a:ext>
                  </a:extLst>
                </a:gridCol>
                <a:gridCol w="4693558">
                  <a:extLst>
                    <a:ext uri="{9D8B030D-6E8A-4147-A177-3AD203B41FA5}">
                      <a16:colId xmlns:a16="http://schemas.microsoft.com/office/drawing/2014/main" val="4103804879"/>
                    </a:ext>
                  </a:extLst>
                </a:gridCol>
              </a:tblGrid>
              <a:tr h="421854">
                <a:tc>
                  <a:txBody>
                    <a:bodyPr/>
                    <a:lstStyle/>
                    <a:p>
                      <a:pPr algn="ctr">
                        <a:buNone/>
                      </a:pPr>
                      <a:r>
                        <a:rPr lang="en-IN" sz="2200" b="0" i="0">
                          <a:solidFill>
                            <a:schemeClr val="bg1"/>
                          </a:solidFill>
                          <a:effectLst/>
                          <a:latin typeface="+mn-lt"/>
                        </a:rPr>
                        <a:t>Element type</a:t>
                      </a:r>
                    </a:p>
                  </a:txBody>
                  <a:tcPr marL="12700" marR="12700" marT="12700" marB="12700" anchor="ctr"/>
                </a:tc>
                <a:tc>
                  <a:txBody>
                    <a:bodyPr/>
                    <a:lstStyle/>
                    <a:p>
                      <a:pPr algn="ctr">
                        <a:buNone/>
                      </a:pPr>
                      <a:r>
                        <a:rPr lang="en-IN" sz="2200" b="0" i="0" dirty="0">
                          <a:solidFill>
                            <a:schemeClr val="bg1"/>
                          </a:solidFill>
                          <a:effectLst/>
                          <a:latin typeface="+mn-lt"/>
                        </a:rPr>
                        <a:t>Count</a:t>
                      </a:r>
                    </a:p>
                  </a:txBody>
                  <a:tcPr marL="12700" marR="12700" marT="12700" marB="12700" anchor="ctr"/>
                </a:tc>
                <a:extLst>
                  <a:ext uri="{0D108BD9-81ED-4DB2-BD59-A6C34878D82A}">
                    <a16:rowId xmlns:a16="http://schemas.microsoft.com/office/drawing/2014/main" val="3028751101"/>
                  </a:ext>
                </a:extLst>
              </a:tr>
              <a:tr h="421854">
                <a:tc>
                  <a:txBody>
                    <a:bodyPr/>
                    <a:lstStyle/>
                    <a:p>
                      <a:pPr algn="ctr">
                        <a:buNone/>
                      </a:pPr>
                      <a:r>
                        <a:rPr lang="en-IN" sz="2200" b="0" i="0">
                          <a:solidFill>
                            <a:schemeClr val="tx1"/>
                          </a:solidFill>
                          <a:effectLst/>
                          <a:latin typeface="+mn-lt"/>
                        </a:rPr>
                        <a:t>Narrative blocks</a:t>
                      </a:r>
                    </a:p>
                  </a:txBody>
                  <a:tcPr marL="12700" marR="12700" marT="12700" marB="12700" anchor="ctr"/>
                </a:tc>
                <a:tc>
                  <a:txBody>
                    <a:bodyPr/>
                    <a:lstStyle/>
                    <a:p>
                      <a:pPr algn="ctr">
                        <a:buNone/>
                      </a:pPr>
                      <a:r>
                        <a:rPr lang="en-IN" sz="2200" b="0" i="0" dirty="0">
                          <a:solidFill>
                            <a:schemeClr val="tx1"/>
                          </a:solidFill>
                          <a:effectLst/>
                          <a:latin typeface="+mn-lt"/>
                        </a:rPr>
                        <a:t>40,476</a:t>
                      </a:r>
                    </a:p>
                  </a:txBody>
                  <a:tcPr marL="12700" marR="12700" marT="12700" marB="12700" anchor="ctr"/>
                </a:tc>
                <a:extLst>
                  <a:ext uri="{0D108BD9-81ED-4DB2-BD59-A6C34878D82A}">
                    <a16:rowId xmlns:a16="http://schemas.microsoft.com/office/drawing/2014/main" val="3520810334"/>
                  </a:ext>
                </a:extLst>
              </a:tr>
              <a:tr h="816315">
                <a:tc>
                  <a:txBody>
                    <a:bodyPr/>
                    <a:lstStyle/>
                    <a:p>
                      <a:pPr algn="ctr">
                        <a:buNone/>
                      </a:pPr>
                      <a:r>
                        <a:rPr lang="en-IN" sz="2200" b="0" i="0">
                          <a:solidFill>
                            <a:schemeClr val="tx1"/>
                          </a:solidFill>
                          <a:effectLst/>
                          <a:latin typeface="+mn-lt"/>
                        </a:rPr>
                        <a:t>Table cells (with header + row-label paths)</a:t>
                      </a:r>
                    </a:p>
                  </a:txBody>
                  <a:tcPr marL="12700" marR="12700" marT="12700" marB="12700" anchor="ctr"/>
                </a:tc>
                <a:tc>
                  <a:txBody>
                    <a:bodyPr/>
                    <a:lstStyle/>
                    <a:p>
                      <a:pPr algn="ctr">
                        <a:buNone/>
                      </a:pPr>
                      <a:r>
                        <a:rPr lang="en-IN" sz="2200" b="0" i="0">
                          <a:solidFill>
                            <a:schemeClr val="tx1"/>
                          </a:solidFill>
                          <a:effectLst/>
                          <a:latin typeface="+mn-lt"/>
                        </a:rPr>
                        <a:t>23,613</a:t>
                      </a:r>
                    </a:p>
                  </a:txBody>
                  <a:tcPr marL="12700" marR="12700" marT="12700" marB="12700" anchor="ctr"/>
                </a:tc>
                <a:extLst>
                  <a:ext uri="{0D108BD9-81ED-4DB2-BD59-A6C34878D82A}">
                    <a16:rowId xmlns:a16="http://schemas.microsoft.com/office/drawing/2014/main" val="2519985674"/>
                  </a:ext>
                </a:extLst>
              </a:tr>
              <a:tr h="816315">
                <a:tc>
                  <a:txBody>
                    <a:bodyPr/>
                    <a:lstStyle/>
                    <a:p>
                      <a:pPr algn="ctr">
                        <a:buNone/>
                      </a:pPr>
                      <a:r>
                        <a:rPr lang="en-IN" sz="2200" b="0" i="0">
                          <a:solidFill>
                            <a:schemeClr val="tx1"/>
                          </a:solidFill>
                          <a:effectLst/>
                          <a:latin typeface="+mn-lt"/>
                        </a:rPr>
                        <a:t>Tables detected</a:t>
                      </a:r>
                    </a:p>
                  </a:txBody>
                  <a:tcPr marL="12700" marR="12700" marT="12700" marB="12700" anchor="ctr"/>
                </a:tc>
                <a:tc>
                  <a:txBody>
                    <a:bodyPr/>
                    <a:lstStyle/>
                    <a:p>
                      <a:pPr algn="ctr">
                        <a:buNone/>
                      </a:pPr>
                      <a:r>
                        <a:rPr lang="en-IN" sz="2200" b="0" i="0" dirty="0">
                          <a:solidFill>
                            <a:schemeClr val="tx1"/>
                          </a:solidFill>
                          <a:effectLst/>
                          <a:latin typeface="+mn-lt"/>
                        </a:rPr>
                        <a:t>861 — 613 accepted, 248 rejected by the quality gate</a:t>
                      </a:r>
                    </a:p>
                  </a:txBody>
                  <a:tcPr marL="12700" marR="12700" marT="12700" marB="12700" anchor="ctr"/>
                </a:tc>
                <a:extLst>
                  <a:ext uri="{0D108BD9-81ED-4DB2-BD59-A6C34878D82A}">
                    <a16:rowId xmlns:a16="http://schemas.microsoft.com/office/drawing/2014/main" val="1440400508"/>
                  </a:ext>
                </a:extLst>
              </a:tr>
              <a:tr h="421854">
                <a:tc>
                  <a:txBody>
                    <a:bodyPr/>
                    <a:lstStyle/>
                    <a:p>
                      <a:pPr algn="ctr">
                        <a:buNone/>
                      </a:pPr>
                      <a:r>
                        <a:rPr lang="en-IN" sz="2200" b="0" i="0">
                          <a:solidFill>
                            <a:schemeClr val="tx1"/>
                          </a:solidFill>
                          <a:effectLst/>
                          <a:latin typeface="+mn-lt"/>
                        </a:rPr>
                        <a:t>Bound footnotes</a:t>
                      </a:r>
                    </a:p>
                  </a:txBody>
                  <a:tcPr marL="12700" marR="12700" marT="12700" marB="12700" anchor="ctr"/>
                </a:tc>
                <a:tc>
                  <a:txBody>
                    <a:bodyPr/>
                    <a:lstStyle/>
                    <a:p>
                      <a:pPr algn="ctr">
                        <a:buNone/>
                      </a:pPr>
                      <a:r>
                        <a:rPr lang="en-IN" sz="2200" b="0" i="0">
                          <a:solidFill>
                            <a:schemeClr val="tx1"/>
                          </a:solidFill>
                          <a:effectLst/>
                          <a:latin typeface="+mn-lt"/>
                        </a:rPr>
                        <a:t>36 across 30 tables</a:t>
                      </a:r>
                    </a:p>
                  </a:txBody>
                  <a:tcPr marL="12700" marR="12700" marT="12700" marB="12700" anchor="ctr"/>
                </a:tc>
                <a:extLst>
                  <a:ext uri="{0D108BD9-81ED-4DB2-BD59-A6C34878D82A}">
                    <a16:rowId xmlns:a16="http://schemas.microsoft.com/office/drawing/2014/main" val="367369626"/>
                  </a:ext>
                </a:extLst>
              </a:tr>
              <a:tr h="421854">
                <a:tc>
                  <a:txBody>
                    <a:bodyPr/>
                    <a:lstStyle/>
                    <a:p>
                      <a:pPr algn="ctr">
                        <a:buNone/>
                      </a:pPr>
                      <a:r>
                        <a:rPr lang="en-IN" sz="2200" b="0" i="0">
                          <a:solidFill>
                            <a:schemeClr val="tx1"/>
                          </a:solidFill>
                          <a:effectLst/>
                          <a:latin typeface="+mn-lt"/>
                        </a:rPr>
                        <a:t>Dropped: whitespace-only</a:t>
                      </a:r>
                    </a:p>
                  </a:txBody>
                  <a:tcPr marL="12700" marR="12700" marT="12700" marB="12700" anchor="ctr"/>
                </a:tc>
                <a:tc>
                  <a:txBody>
                    <a:bodyPr/>
                    <a:lstStyle/>
                    <a:p>
                      <a:pPr algn="ctr">
                        <a:buNone/>
                      </a:pPr>
                      <a:r>
                        <a:rPr lang="en-IN" sz="2200" b="0" i="0">
                          <a:solidFill>
                            <a:schemeClr val="tx1"/>
                          </a:solidFill>
                          <a:effectLst/>
                          <a:latin typeface="+mn-lt"/>
                        </a:rPr>
                        <a:t>1,557</a:t>
                      </a:r>
                    </a:p>
                  </a:txBody>
                  <a:tcPr marL="12700" marR="12700" marT="12700" marB="12700" anchor="ctr"/>
                </a:tc>
                <a:extLst>
                  <a:ext uri="{0D108BD9-81ED-4DB2-BD59-A6C34878D82A}">
                    <a16:rowId xmlns:a16="http://schemas.microsoft.com/office/drawing/2014/main" val="1855759396"/>
                  </a:ext>
                </a:extLst>
              </a:tr>
              <a:tr h="421854">
                <a:tc>
                  <a:txBody>
                    <a:bodyPr/>
                    <a:lstStyle/>
                    <a:p>
                      <a:pPr algn="ctr">
                        <a:buNone/>
                      </a:pPr>
                      <a:r>
                        <a:rPr lang="en-IN" sz="2200" b="0" i="0">
                          <a:solidFill>
                            <a:schemeClr val="tx1"/>
                          </a:solidFill>
                          <a:effectLst/>
                          <a:latin typeface="+mn-lt"/>
                        </a:rPr>
                        <a:t>Withheld: contents-page leader lines</a:t>
                      </a:r>
                    </a:p>
                  </a:txBody>
                  <a:tcPr marL="12700" marR="12700" marT="12700" marB="12700" anchor="ctr"/>
                </a:tc>
                <a:tc>
                  <a:txBody>
                    <a:bodyPr/>
                    <a:lstStyle/>
                    <a:p>
                      <a:pPr algn="ctr">
                        <a:buNone/>
                      </a:pPr>
                      <a:r>
                        <a:rPr lang="en-IN" sz="2200" b="0" i="0" dirty="0">
                          <a:solidFill>
                            <a:schemeClr val="tx1"/>
                          </a:solidFill>
                          <a:effectLst/>
                          <a:latin typeface="+mn-lt"/>
                        </a:rPr>
                        <a:t>129</a:t>
                      </a:r>
                    </a:p>
                  </a:txBody>
                  <a:tcPr marL="12700" marR="12700" marT="12700" marB="12700" anchor="ctr"/>
                </a:tc>
                <a:extLst>
                  <a:ext uri="{0D108BD9-81ED-4DB2-BD59-A6C34878D82A}">
                    <a16:rowId xmlns:a16="http://schemas.microsoft.com/office/drawing/2014/main" val="1677814790"/>
                  </a:ext>
                </a:extLst>
              </a:tr>
            </a:tbl>
          </a:graphicData>
        </a:graphic>
      </p:graphicFrame>
      <p:sp>
        <p:nvSpPr>
          <p:cNvPr id="8" name="TextBox 7">
            <a:extLst>
              <a:ext uri="{FF2B5EF4-FFF2-40B4-BE49-F238E27FC236}">
                <a16:creationId xmlns:a16="http://schemas.microsoft.com/office/drawing/2014/main" id="{D7DF909F-0F4D-3057-03B2-3F16CD51FCA5}"/>
              </a:ext>
            </a:extLst>
          </p:cNvPr>
          <p:cNvSpPr txBox="1"/>
          <p:nvPr/>
        </p:nvSpPr>
        <p:spPr>
          <a:xfrm>
            <a:off x="353968" y="1385804"/>
            <a:ext cx="6112328" cy="461665"/>
          </a:xfrm>
          <a:prstGeom prst="rect">
            <a:avLst/>
          </a:prstGeom>
          <a:noFill/>
        </p:spPr>
        <p:txBody>
          <a:bodyPr wrap="square">
            <a:spAutoFit/>
          </a:bodyPr>
          <a:lstStyle/>
          <a:p>
            <a:r>
              <a:rPr lang="en-IN" sz="2400" b="1" i="0" dirty="0">
                <a:solidFill>
                  <a:schemeClr val="tx1"/>
                </a:solidFill>
                <a:effectLst/>
                <a:latin typeface="+mn-lt"/>
              </a:rPr>
              <a:t>What </a:t>
            </a:r>
            <a:r>
              <a:rPr lang="en-IN" sz="2400" b="1" dirty="0"/>
              <a:t>E</a:t>
            </a:r>
            <a:r>
              <a:rPr lang="en-IN" sz="2400" b="1" i="0" dirty="0">
                <a:solidFill>
                  <a:schemeClr val="tx1"/>
                </a:solidFill>
                <a:effectLst/>
                <a:latin typeface="+mn-lt"/>
              </a:rPr>
              <a:t>xtraction produces?</a:t>
            </a:r>
            <a:endParaRPr lang="en-IN" sz="2400" dirty="0"/>
          </a:p>
        </p:txBody>
      </p:sp>
    </p:spTree>
    <p:extLst>
      <p:ext uri="{BB962C8B-B14F-4D97-AF65-F5344CB8AC3E}">
        <p14:creationId xmlns:p14="http://schemas.microsoft.com/office/powerpoint/2010/main" val="679362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0F300-52CC-83A6-B976-2697DBBFEF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F0430C-E3F5-F1D1-B8B8-BDBDEAEDE32D}"/>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preprocessing &amp; EDA</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B40EC5BB-E1E5-92B7-6302-C763981D33B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6875B4D-890E-DAB8-4F36-E0DB2B2DFE74}"/>
              </a:ext>
            </a:extLst>
          </p:cNvPr>
          <p:cNvSpPr txBox="1"/>
          <p:nvPr/>
        </p:nvSpPr>
        <p:spPr>
          <a:xfrm>
            <a:off x="4419601" y="57036"/>
            <a:ext cx="7772400"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graphicFrame>
        <p:nvGraphicFramePr>
          <p:cNvPr id="6" name="Table 5">
            <a:extLst>
              <a:ext uri="{FF2B5EF4-FFF2-40B4-BE49-F238E27FC236}">
                <a16:creationId xmlns:a16="http://schemas.microsoft.com/office/drawing/2014/main" id="{12FA455A-C389-A3CB-D7A9-DD051BF5424F}"/>
              </a:ext>
            </a:extLst>
          </p:cNvPr>
          <p:cNvGraphicFramePr>
            <a:graphicFrameLocks noGrp="1"/>
          </p:cNvGraphicFramePr>
          <p:nvPr>
            <p:extLst>
              <p:ext uri="{D42A27DB-BD31-4B8C-83A1-F6EECF244321}">
                <p14:modId xmlns:p14="http://schemas.microsoft.com/office/powerpoint/2010/main" val="2478364523"/>
              </p:ext>
            </p:extLst>
          </p:nvPr>
        </p:nvGraphicFramePr>
        <p:xfrm>
          <a:off x="486227" y="1786707"/>
          <a:ext cx="9387117" cy="4290112"/>
        </p:xfrm>
        <a:graphic>
          <a:graphicData uri="http://schemas.openxmlformats.org/drawingml/2006/table">
            <a:tbl>
              <a:tblPr firstRow="1" bandRow="1">
                <a:tableStyleId>{5C22544A-7EE6-4342-B048-85BDC9FD1C3A}</a:tableStyleId>
              </a:tblPr>
              <a:tblGrid>
                <a:gridCol w="3129039">
                  <a:extLst>
                    <a:ext uri="{9D8B030D-6E8A-4147-A177-3AD203B41FA5}">
                      <a16:colId xmlns:a16="http://schemas.microsoft.com/office/drawing/2014/main" val="4270233445"/>
                    </a:ext>
                  </a:extLst>
                </a:gridCol>
                <a:gridCol w="3129039">
                  <a:extLst>
                    <a:ext uri="{9D8B030D-6E8A-4147-A177-3AD203B41FA5}">
                      <a16:colId xmlns:a16="http://schemas.microsoft.com/office/drawing/2014/main" val="4103804879"/>
                    </a:ext>
                  </a:extLst>
                </a:gridCol>
                <a:gridCol w="3129039">
                  <a:extLst>
                    <a:ext uri="{9D8B030D-6E8A-4147-A177-3AD203B41FA5}">
                      <a16:colId xmlns:a16="http://schemas.microsoft.com/office/drawing/2014/main" val="2098006737"/>
                    </a:ext>
                  </a:extLst>
                </a:gridCol>
              </a:tblGrid>
              <a:tr h="421854">
                <a:tc>
                  <a:txBody>
                    <a:bodyPr/>
                    <a:lstStyle/>
                    <a:p>
                      <a:pPr algn="l">
                        <a:buNone/>
                      </a:pPr>
                      <a:r>
                        <a:rPr lang="en-IN" sz="2200" b="0" i="0">
                          <a:solidFill>
                            <a:schemeClr val="bg1"/>
                          </a:solidFill>
                          <a:effectLst/>
                          <a:latin typeface="+mn-lt"/>
                        </a:rPr>
                        <a:t>Artefact</a:t>
                      </a:r>
                    </a:p>
                  </a:txBody>
                  <a:tcPr marL="12700" marR="12700" marT="12700" marB="12700" anchor="ctr"/>
                </a:tc>
                <a:tc>
                  <a:txBody>
                    <a:bodyPr/>
                    <a:lstStyle/>
                    <a:p>
                      <a:pPr algn="l">
                        <a:buNone/>
                      </a:pPr>
                      <a:r>
                        <a:rPr lang="en-IN" sz="2200" b="0" i="0">
                          <a:solidFill>
                            <a:schemeClr val="bg1"/>
                          </a:solidFill>
                          <a:effectLst/>
                          <a:latin typeface="+mn-lt"/>
                        </a:rPr>
                        <a:t>Before</a:t>
                      </a:r>
                    </a:p>
                  </a:txBody>
                  <a:tcPr marL="12700" marR="12700" marT="12700" marB="12700" anchor="ctr"/>
                </a:tc>
                <a:tc>
                  <a:txBody>
                    <a:bodyPr/>
                    <a:lstStyle/>
                    <a:p>
                      <a:pPr algn="l">
                        <a:buNone/>
                      </a:pPr>
                      <a:r>
                        <a:rPr lang="en-IN" sz="2200" b="0" i="0" dirty="0">
                          <a:solidFill>
                            <a:schemeClr val="bg1"/>
                          </a:solidFill>
                          <a:effectLst/>
                          <a:latin typeface="+mn-lt"/>
                        </a:rPr>
                        <a:t>After</a:t>
                      </a:r>
                    </a:p>
                  </a:txBody>
                  <a:tcPr marL="12700" marR="12700" marT="12700" marB="12700" anchor="ctr"/>
                </a:tc>
                <a:extLst>
                  <a:ext uri="{0D108BD9-81ED-4DB2-BD59-A6C34878D82A}">
                    <a16:rowId xmlns:a16="http://schemas.microsoft.com/office/drawing/2014/main" val="3028751101"/>
                  </a:ext>
                </a:extLst>
              </a:tr>
              <a:tr h="421854">
                <a:tc>
                  <a:txBody>
                    <a:bodyPr/>
                    <a:lstStyle/>
                    <a:p>
                      <a:pPr algn="l">
                        <a:buNone/>
                      </a:pPr>
                      <a:r>
                        <a:rPr lang="en-IN" sz="2200" b="0" i="0">
                          <a:solidFill>
                            <a:schemeClr val="tx1"/>
                          </a:solidFill>
                          <a:effectLst/>
                          <a:latin typeface="+mn-lt"/>
                        </a:rPr>
                        <a:t>Passages unreachable by a correctly-spelled query</a:t>
                      </a:r>
                    </a:p>
                  </a:txBody>
                  <a:tcPr marL="12700" marR="12700" marT="12700" marB="12700" anchor="ctr"/>
                </a:tc>
                <a:tc>
                  <a:txBody>
                    <a:bodyPr/>
                    <a:lstStyle/>
                    <a:p>
                      <a:pPr algn="l">
                        <a:buNone/>
                      </a:pPr>
                      <a:r>
                        <a:rPr lang="en-IN" sz="2200" b="0" i="0">
                          <a:solidFill>
                            <a:schemeClr val="tx1"/>
                          </a:solidFill>
                          <a:effectLst/>
                          <a:latin typeface="+mn-lt"/>
                        </a:rPr>
                        <a:t>573</a:t>
                      </a:r>
                    </a:p>
                  </a:txBody>
                  <a:tcPr marL="12700" marR="12700" marT="12700" marB="12700" anchor="ctr"/>
                </a:tc>
                <a:tc>
                  <a:txBody>
                    <a:bodyPr/>
                    <a:lstStyle/>
                    <a:p>
                      <a:pPr algn="l">
                        <a:buNone/>
                      </a:pPr>
                      <a:r>
                        <a:rPr lang="en-IN" sz="2200" b="0" i="0">
                          <a:solidFill>
                            <a:schemeClr val="tx1"/>
                          </a:solidFill>
                          <a:effectLst/>
                          <a:latin typeface="+mn-lt"/>
                        </a:rPr>
                        <a:t>0</a:t>
                      </a:r>
                    </a:p>
                  </a:txBody>
                  <a:tcPr marL="12700" marR="12700" marT="12700" marB="12700" anchor="ctr"/>
                </a:tc>
                <a:extLst>
                  <a:ext uri="{0D108BD9-81ED-4DB2-BD59-A6C34878D82A}">
                    <a16:rowId xmlns:a16="http://schemas.microsoft.com/office/drawing/2014/main" val="3520810334"/>
                  </a:ext>
                </a:extLst>
              </a:tr>
              <a:tr h="816315">
                <a:tc>
                  <a:txBody>
                    <a:bodyPr/>
                    <a:lstStyle/>
                    <a:p>
                      <a:pPr algn="l">
                        <a:buNone/>
                      </a:pPr>
                      <a:r>
                        <a:rPr lang="en-IN" sz="2200" b="0" i="0">
                          <a:solidFill>
                            <a:schemeClr val="tx1"/>
                          </a:solidFill>
                          <a:effectLst/>
                          <a:latin typeface="+mn-lt"/>
                        </a:rPr>
                        <a:t>Chunks carrying a ligature</a:t>
                      </a:r>
                    </a:p>
                  </a:txBody>
                  <a:tcPr marL="12700" marR="12700" marT="12700" marB="12700" anchor="ctr"/>
                </a:tc>
                <a:tc>
                  <a:txBody>
                    <a:bodyPr/>
                    <a:lstStyle/>
                    <a:p>
                      <a:pPr algn="l">
                        <a:buNone/>
                      </a:pPr>
                      <a:r>
                        <a:rPr lang="en-IN" sz="2200" b="0" i="0">
                          <a:solidFill>
                            <a:schemeClr val="tx1"/>
                          </a:solidFill>
                          <a:effectLst/>
                          <a:latin typeface="+mn-lt"/>
                        </a:rPr>
                        <a:t>441 of 5,637</a:t>
                      </a:r>
                    </a:p>
                  </a:txBody>
                  <a:tcPr marL="12700" marR="12700" marT="12700" marB="12700" anchor="ctr"/>
                </a:tc>
                <a:tc>
                  <a:txBody>
                    <a:bodyPr/>
                    <a:lstStyle/>
                    <a:p>
                      <a:pPr algn="l">
                        <a:buNone/>
                      </a:pPr>
                      <a:r>
                        <a:rPr lang="en-IN" sz="2200" b="0" i="0">
                          <a:solidFill>
                            <a:schemeClr val="tx1"/>
                          </a:solidFill>
                          <a:effectLst/>
                          <a:latin typeface="+mn-lt"/>
                        </a:rPr>
                        <a:t>0 of 5,628</a:t>
                      </a:r>
                    </a:p>
                  </a:txBody>
                  <a:tcPr marL="12700" marR="12700" marT="12700" marB="12700" anchor="ctr"/>
                </a:tc>
                <a:extLst>
                  <a:ext uri="{0D108BD9-81ED-4DB2-BD59-A6C34878D82A}">
                    <a16:rowId xmlns:a16="http://schemas.microsoft.com/office/drawing/2014/main" val="2519985674"/>
                  </a:ext>
                </a:extLst>
              </a:tr>
              <a:tr h="816315">
                <a:tc>
                  <a:txBody>
                    <a:bodyPr/>
                    <a:lstStyle/>
                    <a:p>
                      <a:pPr algn="l">
                        <a:buNone/>
                      </a:pPr>
                      <a:r>
                        <a:rPr lang="en-IN" sz="2200" b="0" i="0">
                          <a:solidFill>
                            <a:schemeClr val="tx1"/>
                          </a:solidFill>
                          <a:effectLst/>
                          <a:latin typeface="+mn-lt"/>
                        </a:rPr>
                        <a:t>Ligature elements (U+FB00–FB04)</a:t>
                      </a:r>
                    </a:p>
                  </a:txBody>
                  <a:tcPr marL="12700" marR="12700" marT="12700" marB="12700" anchor="ctr"/>
                </a:tc>
                <a:tc>
                  <a:txBody>
                    <a:bodyPr/>
                    <a:lstStyle/>
                    <a:p>
                      <a:pPr algn="l">
                        <a:buNone/>
                      </a:pPr>
                      <a:r>
                        <a:rPr lang="en-IN" sz="2200" b="0" i="0">
                          <a:solidFill>
                            <a:schemeClr val="tx1"/>
                          </a:solidFill>
                          <a:effectLst/>
                          <a:latin typeface="+mn-lt"/>
                        </a:rPr>
                        <a:t>1,561</a:t>
                      </a:r>
                    </a:p>
                  </a:txBody>
                  <a:tcPr marL="12700" marR="12700" marT="12700" marB="12700" anchor="ctr"/>
                </a:tc>
                <a:tc>
                  <a:txBody>
                    <a:bodyPr/>
                    <a:lstStyle/>
                    <a:p>
                      <a:pPr algn="l">
                        <a:buNone/>
                      </a:pPr>
                      <a:r>
                        <a:rPr lang="en-IN" sz="2200" b="0" i="0" dirty="0">
                          <a:solidFill>
                            <a:schemeClr val="tx1"/>
                          </a:solidFill>
                          <a:effectLst/>
                          <a:latin typeface="+mn-lt"/>
                        </a:rPr>
                        <a:t>0</a:t>
                      </a:r>
                    </a:p>
                  </a:txBody>
                  <a:tcPr marL="12700" marR="12700" marT="12700" marB="12700" anchor="ctr"/>
                </a:tc>
                <a:extLst>
                  <a:ext uri="{0D108BD9-81ED-4DB2-BD59-A6C34878D82A}">
                    <a16:rowId xmlns:a16="http://schemas.microsoft.com/office/drawing/2014/main" val="1440400508"/>
                  </a:ext>
                </a:extLst>
              </a:tr>
              <a:tr h="421854">
                <a:tc>
                  <a:txBody>
                    <a:bodyPr/>
                    <a:lstStyle/>
                    <a:p>
                      <a:pPr algn="l">
                        <a:buNone/>
                      </a:pPr>
                      <a:r>
                        <a:rPr lang="en-IN" sz="2200" b="0" i="0">
                          <a:solidFill>
                            <a:schemeClr val="tx1"/>
                          </a:solidFill>
                          <a:effectLst/>
                          <a:latin typeface="+mn-lt"/>
                        </a:rPr>
                        <a:t>Non-breaking / thin spaces</a:t>
                      </a:r>
                    </a:p>
                  </a:txBody>
                  <a:tcPr marL="12700" marR="12700" marT="12700" marB="12700" anchor="ctr"/>
                </a:tc>
                <a:tc>
                  <a:txBody>
                    <a:bodyPr/>
                    <a:lstStyle/>
                    <a:p>
                      <a:pPr algn="l">
                        <a:buNone/>
                      </a:pPr>
                      <a:r>
                        <a:rPr lang="en-IN" sz="2200" b="0" i="0">
                          <a:solidFill>
                            <a:schemeClr val="tx1"/>
                          </a:solidFill>
                          <a:effectLst/>
                          <a:latin typeface="+mn-lt"/>
                        </a:rPr>
                        <a:t>214</a:t>
                      </a:r>
                    </a:p>
                  </a:txBody>
                  <a:tcPr marL="12700" marR="12700" marT="12700" marB="12700" anchor="ctr"/>
                </a:tc>
                <a:tc>
                  <a:txBody>
                    <a:bodyPr/>
                    <a:lstStyle/>
                    <a:p>
                      <a:pPr algn="l">
                        <a:buNone/>
                      </a:pPr>
                      <a:r>
                        <a:rPr lang="en-IN" sz="2200" b="0" i="0">
                          <a:solidFill>
                            <a:schemeClr val="tx1"/>
                          </a:solidFill>
                          <a:effectLst/>
                          <a:latin typeface="+mn-lt"/>
                        </a:rPr>
                        <a:t>0</a:t>
                      </a:r>
                    </a:p>
                  </a:txBody>
                  <a:tcPr marL="12700" marR="12700" marT="12700" marB="12700" anchor="ctr"/>
                </a:tc>
                <a:extLst>
                  <a:ext uri="{0D108BD9-81ED-4DB2-BD59-A6C34878D82A}">
                    <a16:rowId xmlns:a16="http://schemas.microsoft.com/office/drawing/2014/main" val="367369626"/>
                  </a:ext>
                </a:extLst>
              </a:tr>
              <a:tr h="421854">
                <a:tc>
                  <a:txBody>
                    <a:bodyPr/>
                    <a:lstStyle/>
                    <a:p>
                      <a:pPr algn="l">
                        <a:buNone/>
                      </a:pPr>
                      <a:r>
                        <a:rPr lang="en-IN" sz="2200" b="0" i="0">
                          <a:solidFill>
                            <a:schemeClr val="tx1"/>
                          </a:solidFill>
                          <a:effectLst/>
                          <a:latin typeface="+mn-lt"/>
                        </a:rPr>
                        <a:t>Invisible control characters</a:t>
                      </a:r>
                    </a:p>
                  </a:txBody>
                  <a:tcPr marL="12700" marR="12700" marT="12700" marB="12700" anchor="ctr"/>
                </a:tc>
                <a:tc>
                  <a:txBody>
                    <a:bodyPr/>
                    <a:lstStyle/>
                    <a:p>
                      <a:pPr algn="l">
                        <a:buNone/>
                      </a:pPr>
                      <a:r>
                        <a:rPr lang="en-IN" sz="2200" b="0" i="0">
                          <a:solidFill>
                            <a:schemeClr val="tx1"/>
                          </a:solidFill>
                          <a:effectLst/>
                          <a:latin typeface="+mn-lt"/>
                        </a:rPr>
                        <a:t>127</a:t>
                      </a:r>
                    </a:p>
                  </a:txBody>
                  <a:tcPr marL="12700" marR="12700" marT="12700" marB="12700" anchor="ctr"/>
                </a:tc>
                <a:tc>
                  <a:txBody>
                    <a:bodyPr/>
                    <a:lstStyle/>
                    <a:p>
                      <a:pPr algn="l">
                        <a:buNone/>
                      </a:pPr>
                      <a:r>
                        <a:rPr lang="en-IN" sz="2200" b="0" i="0" dirty="0">
                          <a:solidFill>
                            <a:schemeClr val="tx1"/>
                          </a:solidFill>
                          <a:effectLst/>
                          <a:latin typeface="+mn-lt"/>
                        </a:rPr>
                        <a:t>0</a:t>
                      </a:r>
                    </a:p>
                  </a:txBody>
                  <a:tcPr marL="12700" marR="12700" marT="12700" marB="12700" anchor="ctr"/>
                </a:tc>
                <a:extLst>
                  <a:ext uri="{0D108BD9-81ED-4DB2-BD59-A6C34878D82A}">
                    <a16:rowId xmlns:a16="http://schemas.microsoft.com/office/drawing/2014/main" val="1855759396"/>
                  </a:ext>
                </a:extLst>
              </a:tr>
              <a:tr h="421854">
                <a:tc>
                  <a:txBody>
                    <a:bodyPr/>
                    <a:lstStyle/>
                    <a:p>
                      <a:pPr algn="l">
                        <a:buNone/>
                      </a:pPr>
                      <a:r>
                        <a:rPr lang="en-IN" sz="2200" b="0" i="0">
                          <a:solidFill>
                            <a:schemeClr val="tx1"/>
                          </a:solidFill>
                          <a:effectLst/>
                          <a:latin typeface="+mn-lt"/>
                        </a:rPr>
                        <a:t>Words split by a line-break hyphen</a:t>
                      </a:r>
                    </a:p>
                  </a:txBody>
                  <a:tcPr marL="12700" marR="12700" marT="12700" marB="12700" anchor="ctr"/>
                </a:tc>
                <a:tc>
                  <a:txBody>
                    <a:bodyPr/>
                    <a:lstStyle/>
                    <a:p>
                      <a:pPr algn="l">
                        <a:buNone/>
                      </a:pPr>
                      <a:r>
                        <a:rPr lang="en-IN" sz="2200" b="0" i="0">
                          <a:solidFill>
                            <a:schemeClr val="tx1"/>
                          </a:solidFill>
                          <a:effectLst/>
                          <a:latin typeface="+mn-lt"/>
                        </a:rPr>
                        <a:t>874</a:t>
                      </a:r>
                    </a:p>
                  </a:txBody>
                  <a:tcPr marL="12700" marR="12700" marT="12700" marB="12700" anchor="ctr"/>
                </a:tc>
                <a:tc>
                  <a:txBody>
                    <a:bodyPr/>
                    <a:lstStyle/>
                    <a:p>
                      <a:pPr algn="l">
                        <a:buNone/>
                      </a:pPr>
                      <a:r>
                        <a:rPr lang="en-IN" sz="2200" b="0" i="0" dirty="0">
                          <a:solidFill>
                            <a:schemeClr val="tx1"/>
                          </a:solidFill>
                          <a:effectLst/>
                          <a:latin typeface="+mn-lt"/>
                        </a:rPr>
                        <a:t>1</a:t>
                      </a:r>
                    </a:p>
                  </a:txBody>
                  <a:tcPr marL="12700" marR="12700" marT="12700" marB="12700" anchor="ctr"/>
                </a:tc>
                <a:extLst>
                  <a:ext uri="{0D108BD9-81ED-4DB2-BD59-A6C34878D82A}">
                    <a16:rowId xmlns:a16="http://schemas.microsoft.com/office/drawing/2014/main" val="1677814790"/>
                  </a:ext>
                </a:extLst>
              </a:tr>
            </a:tbl>
          </a:graphicData>
        </a:graphic>
      </p:graphicFrame>
      <p:sp>
        <p:nvSpPr>
          <p:cNvPr id="8" name="TextBox 7">
            <a:extLst>
              <a:ext uri="{FF2B5EF4-FFF2-40B4-BE49-F238E27FC236}">
                <a16:creationId xmlns:a16="http://schemas.microsoft.com/office/drawing/2014/main" id="{E117E2A1-5444-038E-609B-32336F4B2B8F}"/>
              </a:ext>
            </a:extLst>
          </p:cNvPr>
          <p:cNvSpPr txBox="1"/>
          <p:nvPr/>
        </p:nvSpPr>
        <p:spPr>
          <a:xfrm>
            <a:off x="364853" y="1325042"/>
            <a:ext cx="6112328" cy="461665"/>
          </a:xfrm>
          <a:prstGeom prst="rect">
            <a:avLst/>
          </a:prstGeom>
          <a:noFill/>
        </p:spPr>
        <p:txBody>
          <a:bodyPr wrap="square">
            <a:spAutoFit/>
          </a:bodyPr>
          <a:lstStyle/>
          <a:p>
            <a:r>
              <a:rPr lang="en-IN" sz="2400" b="1" i="0" dirty="0">
                <a:solidFill>
                  <a:schemeClr val="tx1"/>
                </a:solidFill>
                <a:effectLst/>
                <a:latin typeface="+mn-lt"/>
              </a:rPr>
              <a:t>What EDA found?</a:t>
            </a:r>
            <a:endParaRPr lang="en-IN" sz="2400" dirty="0"/>
          </a:p>
        </p:txBody>
      </p:sp>
    </p:spTree>
    <p:extLst>
      <p:ext uri="{BB962C8B-B14F-4D97-AF65-F5344CB8AC3E}">
        <p14:creationId xmlns:p14="http://schemas.microsoft.com/office/powerpoint/2010/main" val="2432310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D0B92-D334-DEDC-1C9C-D0632645A7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388B2C0-3468-2671-86A3-18582027379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preprocessing &amp; EDA</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342DC30-16CB-53C9-E4CF-30C3A1ED4BB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58799EC-988C-00E1-E900-34CF4C239E75}"/>
              </a:ext>
            </a:extLst>
          </p:cNvPr>
          <p:cNvSpPr txBox="1"/>
          <p:nvPr/>
        </p:nvSpPr>
        <p:spPr>
          <a:xfrm>
            <a:off x="4419601" y="57036"/>
            <a:ext cx="7772400"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graphicFrame>
        <p:nvGraphicFramePr>
          <p:cNvPr id="6" name="Table 5">
            <a:extLst>
              <a:ext uri="{FF2B5EF4-FFF2-40B4-BE49-F238E27FC236}">
                <a16:creationId xmlns:a16="http://schemas.microsoft.com/office/drawing/2014/main" id="{BCFDCD8F-9560-1C40-EFAD-5835433F5CFA}"/>
              </a:ext>
            </a:extLst>
          </p:cNvPr>
          <p:cNvGraphicFramePr>
            <a:graphicFrameLocks noGrp="1"/>
          </p:cNvGraphicFramePr>
          <p:nvPr>
            <p:extLst>
              <p:ext uri="{D42A27DB-BD31-4B8C-83A1-F6EECF244321}">
                <p14:modId xmlns:p14="http://schemas.microsoft.com/office/powerpoint/2010/main" val="1783176473"/>
              </p:ext>
            </p:extLst>
          </p:nvPr>
        </p:nvGraphicFramePr>
        <p:xfrm>
          <a:off x="486227" y="2005755"/>
          <a:ext cx="9387116" cy="3741900"/>
        </p:xfrm>
        <a:graphic>
          <a:graphicData uri="http://schemas.openxmlformats.org/drawingml/2006/table">
            <a:tbl>
              <a:tblPr firstRow="1" bandRow="1">
                <a:tableStyleId>{5C22544A-7EE6-4342-B048-85BDC9FD1C3A}</a:tableStyleId>
              </a:tblPr>
              <a:tblGrid>
                <a:gridCol w="4693558">
                  <a:extLst>
                    <a:ext uri="{9D8B030D-6E8A-4147-A177-3AD203B41FA5}">
                      <a16:colId xmlns:a16="http://schemas.microsoft.com/office/drawing/2014/main" val="4270233445"/>
                    </a:ext>
                  </a:extLst>
                </a:gridCol>
                <a:gridCol w="4693558">
                  <a:extLst>
                    <a:ext uri="{9D8B030D-6E8A-4147-A177-3AD203B41FA5}">
                      <a16:colId xmlns:a16="http://schemas.microsoft.com/office/drawing/2014/main" val="4103804879"/>
                    </a:ext>
                  </a:extLst>
                </a:gridCol>
              </a:tblGrid>
              <a:tr h="421854">
                <a:tc>
                  <a:txBody>
                    <a:bodyPr/>
                    <a:lstStyle/>
                    <a:p>
                      <a:pPr algn="ctr">
                        <a:buNone/>
                      </a:pPr>
                      <a:r>
                        <a:rPr lang="en-IN" sz="2200" b="0" i="0">
                          <a:solidFill>
                            <a:schemeClr val="bg1"/>
                          </a:solidFill>
                          <a:effectLst/>
                          <a:latin typeface="+mn-lt"/>
                        </a:rPr>
                        <a:t>Measure</a:t>
                      </a:r>
                    </a:p>
                  </a:txBody>
                  <a:tcPr marL="12700" marR="12700" marT="12700" marB="12700" anchor="ctr"/>
                </a:tc>
                <a:tc>
                  <a:txBody>
                    <a:bodyPr/>
                    <a:lstStyle/>
                    <a:p>
                      <a:pPr algn="ctr">
                        <a:buNone/>
                      </a:pPr>
                      <a:r>
                        <a:rPr lang="en-IN" sz="2200" b="0" i="0" dirty="0">
                          <a:solidFill>
                            <a:schemeClr val="bg1"/>
                          </a:solidFill>
                          <a:effectLst/>
                          <a:latin typeface="+mn-lt"/>
                        </a:rPr>
                        <a:t>Value</a:t>
                      </a:r>
                    </a:p>
                  </a:txBody>
                  <a:tcPr marL="12700" marR="12700" marT="12700" marB="12700" anchor="ctr"/>
                </a:tc>
                <a:extLst>
                  <a:ext uri="{0D108BD9-81ED-4DB2-BD59-A6C34878D82A}">
                    <a16:rowId xmlns:a16="http://schemas.microsoft.com/office/drawing/2014/main" val="3028751101"/>
                  </a:ext>
                </a:extLst>
              </a:tr>
              <a:tr h="421854">
                <a:tc>
                  <a:txBody>
                    <a:bodyPr/>
                    <a:lstStyle/>
                    <a:p>
                      <a:pPr algn="ctr">
                        <a:buNone/>
                      </a:pPr>
                      <a:r>
                        <a:rPr lang="en-IN" sz="2200" b="0" i="0">
                          <a:solidFill>
                            <a:schemeClr val="tx1"/>
                          </a:solidFill>
                          <a:effectLst/>
                          <a:latin typeface="+mn-lt"/>
                        </a:rPr>
                        <a:t>Chunks (parent + child)</a:t>
                      </a:r>
                    </a:p>
                  </a:txBody>
                  <a:tcPr marL="12700" marR="12700" marT="12700" marB="12700" anchor="ctr"/>
                </a:tc>
                <a:tc>
                  <a:txBody>
                    <a:bodyPr/>
                    <a:lstStyle/>
                    <a:p>
                      <a:pPr algn="ctr">
                        <a:buNone/>
                      </a:pPr>
                      <a:r>
                        <a:rPr lang="en-IN" sz="2200" b="0" i="0">
                          <a:solidFill>
                            <a:schemeClr val="tx1"/>
                          </a:solidFill>
                          <a:effectLst/>
                          <a:latin typeface="+mn-lt"/>
                        </a:rPr>
                        <a:t>5,628</a:t>
                      </a:r>
                    </a:p>
                  </a:txBody>
                  <a:tcPr marL="12700" marR="12700" marT="12700" marB="12700" anchor="ctr"/>
                </a:tc>
                <a:extLst>
                  <a:ext uri="{0D108BD9-81ED-4DB2-BD59-A6C34878D82A}">
                    <a16:rowId xmlns:a16="http://schemas.microsoft.com/office/drawing/2014/main" val="3520810334"/>
                  </a:ext>
                </a:extLst>
              </a:tr>
              <a:tr h="816315">
                <a:tc>
                  <a:txBody>
                    <a:bodyPr/>
                    <a:lstStyle/>
                    <a:p>
                      <a:pPr algn="ctr">
                        <a:buNone/>
                      </a:pPr>
                      <a:r>
                        <a:rPr lang="en-IN" sz="2200" b="0" i="0" dirty="0">
                          <a:solidFill>
                            <a:schemeClr val="tx1"/>
                          </a:solidFill>
                          <a:effectLst/>
                          <a:latin typeface="+mn-lt"/>
                        </a:rPr>
                        <a:t>Retrieval children / parents</a:t>
                      </a:r>
                    </a:p>
                  </a:txBody>
                  <a:tcPr marL="12700" marR="12700" marT="12700" marB="12700" anchor="ctr"/>
                </a:tc>
                <a:tc>
                  <a:txBody>
                    <a:bodyPr/>
                    <a:lstStyle/>
                    <a:p>
                      <a:pPr algn="ctr">
                        <a:buNone/>
                      </a:pPr>
                      <a:r>
                        <a:rPr lang="en-IN" sz="2200" b="0" i="0" dirty="0">
                          <a:solidFill>
                            <a:schemeClr val="tx1"/>
                          </a:solidFill>
                          <a:effectLst/>
                          <a:latin typeface="+mn-lt"/>
                        </a:rPr>
                        <a:t>4,859 / 769</a:t>
                      </a:r>
                    </a:p>
                  </a:txBody>
                  <a:tcPr marL="12700" marR="12700" marT="12700" marB="12700" anchor="ctr"/>
                </a:tc>
                <a:extLst>
                  <a:ext uri="{0D108BD9-81ED-4DB2-BD59-A6C34878D82A}">
                    <a16:rowId xmlns:a16="http://schemas.microsoft.com/office/drawing/2014/main" val="2519985674"/>
                  </a:ext>
                </a:extLst>
              </a:tr>
              <a:tr h="816315">
                <a:tc>
                  <a:txBody>
                    <a:bodyPr/>
                    <a:lstStyle/>
                    <a:p>
                      <a:pPr algn="ctr">
                        <a:buNone/>
                      </a:pPr>
                      <a:r>
                        <a:rPr lang="en-IN" sz="2200" b="0" i="0">
                          <a:solidFill>
                            <a:schemeClr val="tx1"/>
                          </a:solidFill>
                          <a:effectLst/>
                          <a:latin typeface="+mn-lt"/>
                        </a:rPr>
                        <a:t>Mean / max child tokens</a:t>
                      </a:r>
                    </a:p>
                  </a:txBody>
                  <a:tcPr marL="12700" marR="12700" marT="12700" marB="12700" anchor="ctr"/>
                </a:tc>
                <a:tc>
                  <a:txBody>
                    <a:bodyPr/>
                    <a:lstStyle/>
                    <a:p>
                      <a:pPr algn="ctr">
                        <a:buNone/>
                      </a:pPr>
                      <a:r>
                        <a:rPr lang="en-IN" sz="2200" b="0" i="0" dirty="0">
                          <a:solidFill>
                            <a:schemeClr val="tx1"/>
                          </a:solidFill>
                          <a:effectLst/>
                          <a:latin typeface="+mn-lt"/>
                        </a:rPr>
                        <a:t>200 / 384</a:t>
                      </a:r>
                    </a:p>
                  </a:txBody>
                  <a:tcPr marL="12700" marR="12700" marT="12700" marB="12700" anchor="ctr"/>
                </a:tc>
                <a:extLst>
                  <a:ext uri="{0D108BD9-81ED-4DB2-BD59-A6C34878D82A}">
                    <a16:rowId xmlns:a16="http://schemas.microsoft.com/office/drawing/2014/main" val="1440400508"/>
                  </a:ext>
                </a:extLst>
              </a:tr>
              <a:tr h="421854">
                <a:tc>
                  <a:txBody>
                    <a:bodyPr/>
                    <a:lstStyle/>
                    <a:p>
                      <a:pPr algn="ctr">
                        <a:buNone/>
                      </a:pPr>
                      <a:r>
                        <a:rPr lang="en-IN" sz="2200" b="0" i="0">
                          <a:solidFill>
                            <a:schemeClr val="tx1"/>
                          </a:solidFill>
                          <a:effectLst/>
                          <a:latin typeface="+mn-lt"/>
                        </a:rPr>
                        <a:t>Children below the 48-token floor</a:t>
                      </a:r>
                    </a:p>
                  </a:txBody>
                  <a:tcPr marL="12700" marR="12700" marT="12700" marB="12700" anchor="ctr"/>
                </a:tc>
                <a:tc>
                  <a:txBody>
                    <a:bodyPr/>
                    <a:lstStyle/>
                    <a:p>
                      <a:pPr algn="ctr">
                        <a:buNone/>
                      </a:pPr>
                      <a:r>
                        <a:rPr lang="en-IN" sz="2200" b="0" i="0" dirty="0">
                          <a:solidFill>
                            <a:schemeClr val="tx1"/>
                          </a:solidFill>
                          <a:effectLst/>
                          <a:latin typeface="+mn-lt"/>
                        </a:rPr>
                        <a:t>1,214 (25%) — an open item</a:t>
                      </a:r>
                    </a:p>
                  </a:txBody>
                  <a:tcPr marL="12700" marR="12700" marT="12700" marB="12700" anchor="ctr"/>
                </a:tc>
                <a:extLst>
                  <a:ext uri="{0D108BD9-81ED-4DB2-BD59-A6C34878D82A}">
                    <a16:rowId xmlns:a16="http://schemas.microsoft.com/office/drawing/2014/main" val="367369626"/>
                  </a:ext>
                </a:extLst>
              </a:tr>
              <a:tr h="421854">
                <a:tc>
                  <a:txBody>
                    <a:bodyPr/>
                    <a:lstStyle/>
                    <a:p>
                      <a:pPr algn="ctr">
                        <a:buNone/>
                      </a:pPr>
                      <a:r>
                        <a:rPr lang="en-IN" sz="2200" b="0" i="0">
                          <a:solidFill>
                            <a:schemeClr val="tx1"/>
                          </a:solidFill>
                          <a:effectLst/>
                          <a:latin typeface="+mn-lt"/>
                        </a:rPr>
                        <a:t>Narrative / table-derived children</a:t>
                      </a:r>
                    </a:p>
                  </a:txBody>
                  <a:tcPr marL="12700" marR="12700" marT="12700" marB="12700" anchor="ctr"/>
                </a:tc>
                <a:tc>
                  <a:txBody>
                    <a:bodyPr/>
                    <a:lstStyle/>
                    <a:p>
                      <a:pPr algn="ctr">
                        <a:buNone/>
                      </a:pPr>
                      <a:r>
                        <a:rPr lang="en-IN" sz="2200" b="0" i="0">
                          <a:solidFill>
                            <a:schemeClr val="tx1"/>
                          </a:solidFill>
                          <a:effectLst/>
                          <a:latin typeface="+mn-lt"/>
                        </a:rPr>
                        <a:t>3,605 / 1,254</a:t>
                      </a:r>
                    </a:p>
                  </a:txBody>
                  <a:tcPr marL="12700" marR="12700" marT="12700" marB="12700" anchor="ctr"/>
                </a:tc>
                <a:extLst>
                  <a:ext uri="{0D108BD9-81ED-4DB2-BD59-A6C34878D82A}">
                    <a16:rowId xmlns:a16="http://schemas.microsoft.com/office/drawing/2014/main" val="1855759396"/>
                  </a:ext>
                </a:extLst>
              </a:tr>
              <a:tr h="421854">
                <a:tc>
                  <a:txBody>
                    <a:bodyPr/>
                    <a:lstStyle/>
                    <a:p>
                      <a:pPr algn="ctr">
                        <a:buNone/>
                      </a:pPr>
                      <a:r>
                        <a:rPr lang="en-IN" sz="2200" b="0" i="0">
                          <a:solidFill>
                            <a:schemeClr val="tx1"/>
                          </a:solidFill>
                          <a:effectLst/>
                          <a:latin typeface="+mn-lt"/>
                        </a:rPr>
                        <a:t>Embedded vectors</a:t>
                      </a:r>
                    </a:p>
                  </a:txBody>
                  <a:tcPr marL="12700" marR="12700" marT="12700" marB="12700" anchor="ctr"/>
                </a:tc>
                <a:tc>
                  <a:txBody>
                    <a:bodyPr/>
                    <a:lstStyle/>
                    <a:p>
                      <a:pPr algn="ctr">
                        <a:buNone/>
                      </a:pPr>
                      <a:r>
                        <a:rPr lang="en-IN" sz="2200" b="0" i="0" dirty="0">
                          <a:solidFill>
                            <a:schemeClr val="tx1"/>
                          </a:solidFill>
                          <a:effectLst/>
                          <a:latin typeface="+mn-lt"/>
                        </a:rPr>
                        <a:t>4,859 × 768-d</a:t>
                      </a:r>
                    </a:p>
                  </a:txBody>
                  <a:tcPr marL="12700" marR="12700" marT="12700" marB="12700" anchor="ctr"/>
                </a:tc>
                <a:extLst>
                  <a:ext uri="{0D108BD9-81ED-4DB2-BD59-A6C34878D82A}">
                    <a16:rowId xmlns:a16="http://schemas.microsoft.com/office/drawing/2014/main" val="1677814790"/>
                  </a:ext>
                </a:extLst>
              </a:tr>
            </a:tbl>
          </a:graphicData>
        </a:graphic>
      </p:graphicFrame>
      <p:sp>
        <p:nvSpPr>
          <p:cNvPr id="8" name="TextBox 7">
            <a:extLst>
              <a:ext uri="{FF2B5EF4-FFF2-40B4-BE49-F238E27FC236}">
                <a16:creationId xmlns:a16="http://schemas.microsoft.com/office/drawing/2014/main" id="{F4A4071C-0748-374C-63EB-67855F775A5E}"/>
              </a:ext>
            </a:extLst>
          </p:cNvPr>
          <p:cNvSpPr txBox="1"/>
          <p:nvPr/>
        </p:nvSpPr>
        <p:spPr>
          <a:xfrm>
            <a:off x="353968" y="1385804"/>
            <a:ext cx="6112328" cy="461665"/>
          </a:xfrm>
          <a:prstGeom prst="rect">
            <a:avLst/>
          </a:prstGeom>
          <a:noFill/>
        </p:spPr>
        <p:txBody>
          <a:bodyPr wrap="square">
            <a:spAutoFit/>
          </a:bodyPr>
          <a:lstStyle/>
          <a:p>
            <a:r>
              <a:rPr lang="en-IN" sz="2400" b="1" i="0" dirty="0">
                <a:solidFill>
                  <a:schemeClr val="tx1"/>
                </a:solidFill>
                <a:effectLst/>
                <a:latin typeface="+mn-lt"/>
              </a:rPr>
              <a:t>What </a:t>
            </a:r>
            <a:r>
              <a:rPr lang="en-IN" sz="2400" b="1" dirty="0"/>
              <a:t>Chunking</a:t>
            </a:r>
            <a:r>
              <a:rPr lang="en-IN" sz="2400" b="1" i="0" dirty="0">
                <a:solidFill>
                  <a:schemeClr val="tx1"/>
                </a:solidFill>
                <a:effectLst/>
                <a:latin typeface="+mn-lt"/>
              </a:rPr>
              <a:t> produces?</a:t>
            </a:r>
            <a:endParaRPr lang="en-IN" sz="2400" dirty="0"/>
          </a:p>
        </p:txBody>
      </p:sp>
    </p:spTree>
    <p:extLst>
      <p:ext uri="{BB962C8B-B14F-4D97-AF65-F5344CB8AC3E}">
        <p14:creationId xmlns:p14="http://schemas.microsoft.com/office/powerpoint/2010/main" val="3040796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F94F3-C72D-6B53-3535-87D35C05AF4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161297D-70FE-3995-7B8B-E65E2256CA1D}"/>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p>
        </p:txBody>
      </p:sp>
      <p:cxnSp>
        <p:nvCxnSpPr>
          <p:cNvPr id="5" name="Straight Connector 4">
            <a:extLst>
              <a:ext uri="{FF2B5EF4-FFF2-40B4-BE49-F238E27FC236}">
                <a16:creationId xmlns:a16="http://schemas.microsoft.com/office/drawing/2014/main" id="{3510A734-7A05-F295-BDB9-B19896E7B49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BFB616C-5BF2-669F-3561-5850A2FEA385}"/>
              </a:ext>
            </a:extLst>
          </p:cNvPr>
          <p:cNvSpPr txBox="1"/>
          <p:nvPr/>
        </p:nvSpPr>
        <p:spPr>
          <a:xfrm>
            <a:off x="4430487" y="57036"/>
            <a:ext cx="7761514"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graphicFrame>
        <p:nvGraphicFramePr>
          <p:cNvPr id="8" name="Table 7">
            <a:extLst>
              <a:ext uri="{FF2B5EF4-FFF2-40B4-BE49-F238E27FC236}">
                <a16:creationId xmlns:a16="http://schemas.microsoft.com/office/drawing/2014/main" id="{6BF0D2C0-4AD5-0EE7-35BA-00EE18D1D1BC}"/>
              </a:ext>
            </a:extLst>
          </p:cNvPr>
          <p:cNvGraphicFramePr>
            <a:graphicFrameLocks noGrp="1"/>
          </p:cNvGraphicFramePr>
          <p:nvPr>
            <p:extLst>
              <p:ext uri="{D42A27DB-BD31-4B8C-83A1-F6EECF244321}">
                <p14:modId xmlns:p14="http://schemas.microsoft.com/office/powerpoint/2010/main" val="2470016669"/>
              </p:ext>
            </p:extLst>
          </p:nvPr>
        </p:nvGraphicFramePr>
        <p:xfrm>
          <a:off x="1371600" y="1314100"/>
          <a:ext cx="9840686" cy="5059680"/>
        </p:xfrm>
        <a:graphic>
          <a:graphicData uri="http://schemas.openxmlformats.org/drawingml/2006/table">
            <a:tbl>
              <a:tblPr firstRow="1" bandRow="1">
                <a:tableStyleId>{5C22544A-7EE6-4342-B048-85BDC9FD1C3A}</a:tableStyleId>
              </a:tblPr>
              <a:tblGrid>
                <a:gridCol w="4920343">
                  <a:extLst>
                    <a:ext uri="{9D8B030D-6E8A-4147-A177-3AD203B41FA5}">
                      <a16:colId xmlns:a16="http://schemas.microsoft.com/office/drawing/2014/main" val="1119376847"/>
                    </a:ext>
                  </a:extLst>
                </a:gridCol>
                <a:gridCol w="4920343">
                  <a:extLst>
                    <a:ext uri="{9D8B030D-6E8A-4147-A177-3AD203B41FA5}">
                      <a16:colId xmlns:a16="http://schemas.microsoft.com/office/drawing/2014/main" val="142654071"/>
                    </a:ext>
                  </a:extLst>
                </a:gridCol>
              </a:tblGrid>
              <a:tr h="370840">
                <a:tc>
                  <a:txBody>
                    <a:bodyPr/>
                    <a:lstStyle/>
                    <a:p>
                      <a:pPr algn="l">
                        <a:buNone/>
                      </a:pPr>
                      <a:r>
                        <a:rPr lang="en-IN" sz="2400" b="0">
                          <a:solidFill>
                            <a:schemeClr val="tx1"/>
                          </a:solidFill>
                          <a:effectLst/>
                        </a:rPr>
                        <a:t>Layer</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a:solidFill>
                            <a:schemeClr val="tx1"/>
                          </a:solidFill>
                          <a:effectLst/>
                        </a:rPr>
                        <a:t>Technology</a:t>
                      </a:r>
                      <a:endParaRPr lang="en-IN" sz="2400" b="0" i="0">
                        <a:solidFill>
                          <a:schemeClr val="tx1"/>
                        </a:solidFill>
                        <a:effectLst/>
                        <a:latin typeface="-apple-system"/>
                      </a:endParaRPr>
                    </a:p>
                  </a:txBody>
                  <a:tcPr marL="12700" marR="12700" marT="12700" marB="12700" anchor="ctr"/>
                </a:tc>
                <a:extLst>
                  <a:ext uri="{0D108BD9-81ED-4DB2-BD59-A6C34878D82A}">
                    <a16:rowId xmlns:a16="http://schemas.microsoft.com/office/drawing/2014/main" val="1311550857"/>
                  </a:ext>
                </a:extLst>
              </a:tr>
              <a:tr h="370840">
                <a:tc>
                  <a:txBody>
                    <a:bodyPr/>
                    <a:lstStyle/>
                    <a:p>
                      <a:pPr algn="l">
                        <a:buNone/>
                      </a:pPr>
                      <a:r>
                        <a:rPr lang="en-IN" sz="2400" b="0">
                          <a:solidFill>
                            <a:schemeClr val="tx1"/>
                          </a:solidFill>
                          <a:effectLst/>
                        </a:rPr>
                        <a:t>Language</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a:solidFill>
                            <a:schemeClr val="tx1"/>
                          </a:solidFill>
                          <a:effectLst/>
                        </a:rPr>
                        <a:t>Python 3.12</a:t>
                      </a:r>
                      <a:endParaRPr lang="en-IN" sz="2400" b="0" i="0">
                        <a:solidFill>
                          <a:schemeClr val="tx1"/>
                        </a:solidFill>
                        <a:effectLst/>
                        <a:latin typeface="-apple-system"/>
                      </a:endParaRPr>
                    </a:p>
                  </a:txBody>
                  <a:tcPr marL="12700" marR="12700" marT="12700" marB="12700" anchor="ctr"/>
                </a:tc>
                <a:extLst>
                  <a:ext uri="{0D108BD9-81ED-4DB2-BD59-A6C34878D82A}">
                    <a16:rowId xmlns:a16="http://schemas.microsoft.com/office/drawing/2014/main" val="194572351"/>
                  </a:ext>
                </a:extLst>
              </a:tr>
              <a:tr h="370840">
                <a:tc>
                  <a:txBody>
                    <a:bodyPr/>
                    <a:lstStyle/>
                    <a:p>
                      <a:pPr algn="l">
                        <a:buNone/>
                      </a:pPr>
                      <a:r>
                        <a:rPr lang="en-IN" sz="2400" b="0">
                          <a:solidFill>
                            <a:schemeClr val="tx1"/>
                          </a:solidFill>
                          <a:effectLst/>
                        </a:rPr>
                        <a:t>Authoritative store</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dirty="0">
                          <a:solidFill>
                            <a:schemeClr val="tx1"/>
                          </a:solidFill>
                          <a:effectLst/>
                        </a:rPr>
                        <a:t>PostgreSQL, </a:t>
                      </a:r>
                      <a:r>
                        <a:rPr lang="en-IN" sz="2400" b="0" dirty="0" err="1">
                          <a:solidFill>
                            <a:schemeClr val="tx1"/>
                          </a:solidFill>
                          <a:effectLst/>
                        </a:rPr>
                        <a:t>SQLAlchemy</a:t>
                      </a:r>
                      <a:r>
                        <a:rPr lang="en-IN" sz="2400" b="0" dirty="0">
                          <a:solidFill>
                            <a:schemeClr val="tx1"/>
                          </a:solidFill>
                          <a:effectLst/>
                        </a:rPr>
                        <a:t>, Alembic</a:t>
                      </a:r>
                      <a:endParaRPr lang="en-IN" sz="2400" b="0" i="0" dirty="0">
                        <a:solidFill>
                          <a:schemeClr val="tx1"/>
                        </a:solidFill>
                        <a:effectLst/>
                        <a:latin typeface="-apple-system"/>
                      </a:endParaRPr>
                    </a:p>
                  </a:txBody>
                  <a:tcPr marL="12700" marR="12700" marT="12700" marB="12700" anchor="ctr"/>
                </a:tc>
                <a:extLst>
                  <a:ext uri="{0D108BD9-81ED-4DB2-BD59-A6C34878D82A}">
                    <a16:rowId xmlns:a16="http://schemas.microsoft.com/office/drawing/2014/main" val="2427485692"/>
                  </a:ext>
                </a:extLst>
              </a:tr>
              <a:tr h="370840">
                <a:tc>
                  <a:txBody>
                    <a:bodyPr/>
                    <a:lstStyle/>
                    <a:p>
                      <a:pPr algn="l">
                        <a:buNone/>
                      </a:pPr>
                      <a:r>
                        <a:rPr lang="en-IN" sz="2400" b="0" dirty="0">
                          <a:solidFill>
                            <a:schemeClr val="tx1"/>
                          </a:solidFill>
                          <a:effectLst/>
                        </a:rPr>
                        <a:t>Vector Database &amp; Indexing</a:t>
                      </a:r>
                      <a:endParaRPr lang="en-IN" sz="2400" b="0" i="0" dirty="0">
                        <a:solidFill>
                          <a:schemeClr val="tx1"/>
                        </a:solidFill>
                        <a:effectLst/>
                        <a:latin typeface="-apple-system"/>
                      </a:endParaRPr>
                    </a:p>
                  </a:txBody>
                  <a:tcPr marL="12700" marR="12700" marT="12700" marB="12700" anchor="ctr"/>
                </a:tc>
                <a:tc>
                  <a:txBody>
                    <a:bodyPr/>
                    <a:lstStyle/>
                    <a:p>
                      <a:pPr algn="l">
                        <a:buNone/>
                      </a:pPr>
                      <a:r>
                        <a:rPr lang="en-IN" sz="2400" b="0" dirty="0" err="1">
                          <a:solidFill>
                            <a:schemeClr val="tx1"/>
                          </a:solidFill>
                          <a:effectLst/>
                        </a:rPr>
                        <a:t>Qdrant</a:t>
                      </a:r>
                      <a:r>
                        <a:rPr lang="en-IN" sz="2400" b="0" dirty="0">
                          <a:solidFill>
                            <a:schemeClr val="tx1"/>
                          </a:solidFill>
                          <a:effectLst/>
                        </a:rPr>
                        <a:t> — dense + BM25 sparse</a:t>
                      </a:r>
                      <a:endParaRPr lang="en-IN" sz="2400" b="0" i="0" dirty="0">
                        <a:solidFill>
                          <a:schemeClr val="tx1"/>
                        </a:solidFill>
                        <a:effectLst/>
                        <a:latin typeface="-apple-system"/>
                      </a:endParaRPr>
                    </a:p>
                  </a:txBody>
                  <a:tcPr marL="12700" marR="12700" marT="12700" marB="12700" anchor="ctr"/>
                </a:tc>
                <a:extLst>
                  <a:ext uri="{0D108BD9-81ED-4DB2-BD59-A6C34878D82A}">
                    <a16:rowId xmlns:a16="http://schemas.microsoft.com/office/drawing/2014/main" val="3781497113"/>
                  </a:ext>
                </a:extLst>
              </a:tr>
              <a:tr h="370840">
                <a:tc>
                  <a:txBody>
                    <a:bodyPr/>
                    <a:lstStyle/>
                    <a:p>
                      <a:pPr algn="l">
                        <a:buNone/>
                      </a:pPr>
                      <a:r>
                        <a:rPr lang="en-IN" sz="2400" b="0">
                          <a:solidFill>
                            <a:schemeClr val="tx1"/>
                          </a:solidFill>
                          <a:effectLst/>
                        </a:rPr>
                        <a:t>Object storage</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dirty="0" err="1">
                          <a:solidFill>
                            <a:schemeClr val="tx1"/>
                          </a:solidFill>
                          <a:effectLst/>
                        </a:rPr>
                        <a:t>SeaweedFS</a:t>
                      </a:r>
                      <a:r>
                        <a:rPr lang="en-IN" sz="2400" b="0" dirty="0">
                          <a:solidFill>
                            <a:schemeClr val="tx1"/>
                          </a:solidFill>
                          <a:effectLst/>
                        </a:rPr>
                        <a:t> via the S3 protocol (boto3)</a:t>
                      </a:r>
                      <a:endParaRPr lang="en-IN" sz="2400" b="0" i="0" dirty="0">
                        <a:solidFill>
                          <a:schemeClr val="tx1"/>
                        </a:solidFill>
                        <a:effectLst/>
                        <a:latin typeface="-apple-system"/>
                      </a:endParaRPr>
                    </a:p>
                  </a:txBody>
                  <a:tcPr marL="12700" marR="12700" marT="12700" marB="12700" anchor="ctr"/>
                </a:tc>
                <a:extLst>
                  <a:ext uri="{0D108BD9-81ED-4DB2-BD59-A6C34878D82A}">
                    <a16:rowId xmlns:a16="http://schemas.microsoft.com/office/drawing/2014/main" val="654615995"/>
                  </a:ext>
                </a:extLst>
              </a:tr>
              <a:tr h="370840">
                <a:tc>
                  <a:txBody>
                    <a:bodyPr/>
                    <a:lstStyle/>
                    <a:p>
                      <a:pPr algn="l">
                        <a:buNone/>
                      </a:pPr>
                      <a:r>
                        <a:rPr lang="en-IN" sz="2400" b="0">
                          <a:solidFill>
                            <a:schemeClr val="tx1"/>
                          </a:solidFill>
                          <a:effectLst/>
                        </a:rPr>
                        <a:t>Embeddings</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a:solidFill>
                            <a:schemeClr val="tx1"/>
                          </a:solidFill>
                          <a:effectLst/>
                        </a:rPr>
                        <a:t>nomic-embed-text via Ollama, 768-dim</a:t>
                      </a:r>
                      <a:endParaRPr lang="en-IN" sz="2400" b="0" i="0">
                        <a:solidFill>
                          <a:schemeClr val="tx1"/>
                        </a:solidFill>
                        <a:effectLst/>
                        <a:latin typeface="-apple-system"/>
                      </a:endParaRPr>
                    </a:p>
                  </a:txBody>
                  <a:tcPr marL="12700" marR="12700" marT="12700" marB="12700" anchor="ctr"/>
                </a:tc>
                <a:extLst>
                  <a:ext uri="{0D108BD9-81ED-4DB2-BD59-A6C34878D82A}">
                    <a16:rowId xmlns:a16="http://schemas.microsoft.com/office/drawing/2014/main" val="3525162043"/>
                  </a:ext>
                </a:extLst>
              </a:tr>
              <a:tr h="370840">
                <a:tc>
                  <a:txBody>
                    <a:bodyPr/>
                    <a:lstStyle/>
                    <a:p>
                      <a:pPr algn="l">
                        <a:buNone/>
                      </a:pPr>
                      <a:r>
                        <a:rPr lang="en-IN" sz="2400" b="0">
                          <a:solidFill>
                            <a:schemeClr val="tx1"/>
                          </a:solidFill>
                          <a:effectLst/>
                        </a:rPr>
                        <a:t>Generation</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dirty="0">
                          <a:solidFill>
                            <a:schemeClr val="tx1"/>
                          </a:solidFill>
                          <a:effectLst/>
                        </a:rPr>
                        <a:t>llama3.1:8b via </a:t>
                      </a:r>
                      <a:r>
                        <a:rPr lang="en-IN" sz="2400" b="0" dirty="0" err="1">
                          <a:solidFill>
                            <a:schemeClr val="tx1"/>
                          </a:solidFill>
                          <a:effectLst/>
                        </a:rPr>
                        <a:t>Ollama</a:t>
                      </a:r>
                      <a:r>
                        <a:rPr lang="en-IN" sz="2400" b="0" dirty="0">
                          <a:solidFill>
                            <a:schemeClr val="tx1"/>
                          </a:solidFill>
                          <a:effectLst/>
                        </a:rPr>
                        <a:t>, host-native</a:t>
                      </a:r>
                      <a:endParaRPr lang="en-IN" sz="2400" b="0" i="0" dirty="0">
                        <a:solidFill>
                          <a:schemeClr val="tx1"/>
                        </a:solidFill>
                        <a:effectLst/>
                        <a:latin typeface="-apple-system"/>
                      </a:endParaRPr>
                    </a:p>
                  </a:txBody>
                  <a:tcPr marL="12700" marR="12700" marT="12700" marB="12700" anchor="ctr"/>
                </a:tc>
                <a:extLst>
                  <a:ext uri="{0D108BD9-81ED-4DB2-BD59-A6C34878D82A}">
                    <a16:rowId xmlns:a16="http://schemas.microsoft.com/office/drawing/2014/main" val="1806258383"/>
                  </a:ext>
                </a:extLst>
              </a:tr>
              <a:tr h="370840">
                <a:tc>
                  <a:txBody>
                    <a:bodyPr/>
                    <a:lstStyle/>
                    <a:p>
                      <a:pPr algn="l">
                        <a:buNone/>
                      </a:pPr>
                      <a:r>
                        <a:rPr lang="en-IN" sz="2400" b="0">
                          <a:solidFill>
                            <a:schemeClr val="tx1"/>
                          </a:solidFill>
                          <a:effectLst/>
                        </a:rPr>
                        <a:t>Reranking</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a:solidFill>
                            <a:schemeClr val="tx1"/>
                          </a:solidFill>
                          <a:effectLst/>
                        </a:rPr>
                        <a:t>ms-marco-MiniLM-L-6-v2 cross-encoder</a:t>
                      </a:r>
                      <a:endParaRPr lang="en-IN" sz="2400" b="0" i="0">
                        <a:solidFill>
                          <a:schemeClr val="tx1"/>
                        </a:solidFill>
                        <a:effectLst/>
                        <a:latin typeface="-apple-system"/>
                      </a:endParaRPr>
                    </a:p>
                  </a:txBody>
                  <a:tcPr marL="12700" marR="12700" marT="12700" marB="12700" anchor="ctr"/>
                </a:tc>
                <a:extLst>
                  <a:ext uri="{0D108BD9-81ED-4DB2-BD59-A6C34878D82A}">
                    <a16:rowId xmlns:a16="http://schemas.microsoft.com/office/drawing/2014/main" val="2391346058"/>
                  </a:ext>
                </a:extLst>
              </a:tr>
              <a:tr h="370840">
                <a:tc>
                  <a:txBody>
                    <a:bodyPr/>
                    <a:lstStyle/>
                    <a:p>
                      <a:pPr algn="l">
                        <a:buNone/>
                      </a:pPr>
                      <a:r>
                        <a:rPr lang="en-IN" sz="2400" b="0" dirty="0">
                          <a:solidFill>
                            <a:schemeClr val="tx1"/>
                          </a:solidFill>
                          <a:effectLst/>
                        </a:rPr>
                        <a:t>Parsing &amp; Extraction</a:t>
                      </a:r>
                      <a:endParaRPr lang="en-IN" sz="2400" b="0" i="0" dirty="0">
                        <a:solidFill>
                          <a:schemeClr val="tx1"/>
                        </a:solidFill>
                        <a:effectLst/>
                        <a:latin typeface="-apple-system"/>
                      </a:endParaRPr>
                    </a:p>
                  </a:txBody>
                  <a:tcPr marL="12700" marR="12700" marT="12700" marB="12700" anchor="ctr"/>
                </a:tc>
                <a:tc>
                  <a:txBody>
                    <a:bodyPr/>
                    <a:lstStyle/>
                    <a:p>
                      <a:pPr algn="l">
                        <a:buNone/>
                      </a:pPr>
                      <a:r>
                        <a:rPr lang="en-IN" sz="2400" b="0" dirty="0" err="1">
                          <a:solidFill>
                            <a:schemeClr val="tx1"/>
                          </a:solidFill>
                          <a:effectLst/>
                        </a:rPr>
                        <a:t>PyMuPDF</a:t>
                      </a:r>
                      <a:r>
                        <a:rPr lang="en-IN" sz="2400" b="0" dirty="0">
                          <a:solidFill>
                            <a:schemeClr val="tx1"/>
                          </a:solidFill>
                          <a:effectLst/>
                        </a:rPr>
                        <a:t> and </a:t>
                      </a:r>
                      <a:r>
                        <a:rPr lang="en-IN" sz="2400" b="0" dirty="0" err="1">
                          <a:solidFill>
                            <a:schemeClr val="tx1"/>
                          </a:solidFill>
                          <a:effectLst/>
                        </a:rPr>
                        <a:t>Docling</a:t>
                      </a:r>
                      <a:endParaRPr lang="en-IN" sz="2400" b="0" i="0" dirty="0">
                        <a:solidFill>
                          <a:schemeClr val="tx1"/>
                        </a:solidFill>
                        <a:effectLst/>
                        <a:latin typeface="-apple-system"/>
                      </a:endParaRPr>
                    </a:p>
                  </a:txBody>
                  <a:tcPr marL="12700" marR="12700" marT="12700" marB="12700" anchor="ctr"/>
                </a:tc>
                <a:extLst>
                  <a:ext uri="{0D108BD9-81ED-4DB2-BD59-A6C34878D82A}">
                    <a16:rowId xmlns:a16="http://schemas.microsoft.com/office/drawing/2014/main" val="240397193"/>
                  </a:ext>
                </a:extLst>
              </a:tr>
              <a:tr h="370840">
                <a:tc>
                  <a:txBody>
                    <a:bodyPr/>
                    <a:lstStyle/>
                    <a:p>
                      <a:pPr algn="l">
                        <a:buNone/>
                      </a:pPr>
                      <a:r>
                        <a:rPr lang="en-IN" sz="2400" b="0">
                          <a:solidFill>
                            <a:schemeClr val="tx1"/>
                          </a:solidFill>
                          <a:effectLst/>
                        </a:rPr>
                        <a:t>API</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dirty="0" err="1">
                          <a:solidFill>
                            <a:schemeClr val="tx1"/>
                          </a:solidFill>
                          <a:effectLst/>
                        </a:rPr>
                        <a:t>FastAPI</a:t>
                      </a:r>
                      <a:endParaRPr lang="en-IN" sz="2400" b="0" i="0" dirty="0">
                        <a:solidFill>
                          <a:schemeClr val="tx1"/>
                        </a:solidFill>
                        <a:effectLst/>
                        <a:latin typeface="-apple-system"/>
                      </a:endParaRPr>
                    </a:p>
                  </a:txBody>
                  <a:tcPr marL="12700" marR="12700" marT="12700" marB="12700" anchor="ctr"/>
                </a:tc>
                <a:extLst>
                  <a:ext uri="{0D108BD9-81ED-4DB2-BD59-A6C34878D82A}">
                    <a16:rowId xmlns:a16="http://schemas.microsoft.com/office/drawing/2014/main" val="598327739"/>
                  </a:ext>
                </a:extLst>
              </a:tr>
              <a:tr h="370840">
                <a:tc>
                  <a:txBody>
                    <a:bodyPr/>
                    <a:lstStyle/>
                    <a:p>
                      <a:pPr algn="l">
                        <a:buNone/>
                      </a:pPr>
                      <a:r>
                        <a:rPr lang="en-IN" sz="2400" b="0">
                          <a:solidFill>
                            <a:schemeClr val="tx1"/>
                          </a:solidFill>
                          <a:effectLst/>
                        </a:rPr>
                        <a:t>Interface</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dirty="0">
                          <a:solidFill>
                            <a:schemeClr val="tx1"/>
                          </a:solidFill>
                          <a:effectLst/>
                        </a:rPr>
                        <a:t>Streamlit</a:t>
                      </a:r>
                      <a:endParaRPr lang="en-IN" sz="2400" b="0" i="0" dirty="0">
                        <a:solidFill>
                          <a:schemeClr val="tx1"/>
                        </a:solidFill>
                        <a:effectLst/>
                        <a:latin typeface="-apple-system"/>
                      </a:endParaRPr>
                    </a:p>
                  </a:txBody>
                  <a:tcPr marL="12700" marR="12700" marT="12700" marB="12700" anchor="ctr"/>
                </a:tc>
                <a:extLst>
                  <a:ext uri="{0D108BD9-81ED-4DB2-BD59-A6C34878D82A}">
                    <a16:rowId xmlns:a16="http://schemas.microsoft.com/office/drawing/2014/main" val="2620489"/>
                  </a:ext>
                </a:extLst>
              </a:tr>
              <a:tr h="370840">
                <a:tc>
                  <a:txBody>
                    <a:bodyPr/>
                    <a:lstStyle/>
                    <a:p>
                      <a:pPr algn="l">
                        <a:buNone/>
                      </a:pPr>
                      <a:r>
                        <a:rPr lang="en-IN" sz="2400" b="0">
                          <a:solidFill>
                            <a:schemeClr val="tx1"/>
                          </a:solidFill>
                          <a:effectLst/>
                        </a:rPr>
                        <a:t>Deployment</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dirty="0">
                          <a:solidFill>
                            <a:schemeClr val="tx1"/>
                          </a:solidFill>
                          <a:effectLst/>
                        </a:rPr>
                        <a:t>Docker Compose, single node</a:t>
                      </a:r>
                      <a:endParaRPr lang="en-IN" sz="2400" b="0" i="0" dirty="0">
                        <a:solidFill>
                          <a:schemeClr val="tx1"/>
                        </a:solidFill>
                        <a:effectLst/>
                        <a:latin typeface="-apple-system"/>
                      </a:endParaRPr>
                    </a:p>
                  </a:txBody>
                  <a:tcPr marL="12700" marR="12700" marT="12700" marB="12700" anchor="ctr"/>
                </a:tc>
                <a:extLst>
                  <a:ext uri="{0D108BD9-81ED-4DB2-BD59-A6C34878D82A}">
                    <a16:rowId xmlns:a16="http://schemas.microsoft.com/office/drawing/2014/main" val="301037266"/>
                  </a:ext>
                </a:extLst>
              </a:tr>
            </a:tbl>
          </a:graphicData>
        </a:graphic>
      </p:graphicFrame>
    </p:spTree>
    <p:extLst>
      <p:ext uri="{BB962C8B-B14F-4D97-AF65-F5344CB8AC3E}">
        <p14:creationId xmlns:p14="http://schemas.microsoft.com/office/powerpoint/2010/main" val="751765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9A058-E477-163A-1B3E-61A05B0F38B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F67352-6E77-1E87-24B7-ED7906E0679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Project plan/Milestone </a:t>
            </a:r>
            <a:r>
              <a:rPr lang="fr-FR" sz="3600" b="1" dirty="0" err="1">
                <a:solidFill>
                  <a:srgbClr val="5B9BD5">
                    <a:lumMod val="50000"/>
                  </a:srgbClr>
                </a:solidFill>
              </a:rPr>
              <a:t>progress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64F4198-C244-16A7-B796-A2E4B5EA6A81}"/>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C26B487-77E4-5D5B-7416-E64E3C867A98}"/>
              </a:ext>
            </a:extLst>
          </p:cNvPr>
          <p:cNvSpPr txBox="1"/>
          <p:nvPr/>
        </p:nvSpPr>
        <p:spPr>
          <a:xfrm>
            <a:off x="4419601" y="57036"/>
            <a:ext cx="7772400"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graphicFrame>
        <p:nvGraphicFramePr>
          <p:cNvPr id="8" name="Table 7">
            <a:extLst>
              <a:ext uri="{FF2B5EF4-FFF2-40B4-BE49-F238E27FC236}">
                <a16:creationId xmlns:a16="http://schemas.microsoft.com/office/drawing/2014/main" id="{ECF973B7-B484-EB01-9FD5-6988A03F8144}"/>
              </a:ext>
            </a:extLst>
          </p:cNvPr>
          <p:cNvGraphicFramePr>
            <a:graphicFrameLocks noGrp="1"/>
          </p:cNvGraphicFramePr>
          <p:nvPr>
            <p:extLst>
              <p:ext uri="{D42A27DB-BD31-4B8C-83A1-F6EECF244321}">
                <p14:modId xmlns:p14="http://schemas.microsoft.com/office/powerpoint/2010/main" val="2373681942"/>
              </p:ext>
            </p:extLst>
          </p:nvPr>
        </p:nvGraphicFramePr>
        <p:xfrm>
          <a:off x="1458684" y="1267294"/>
          <a:ext cx="9971315" cy="5120806"/>
        </p:xfrm>
        <a:graphic>
          <a:graphicData uri="http://schemas.openxmlformats.org/drawingml/2006/table">
            <a:tbl>
              <a:tblPr firstRow="1" bandRow="1">
                <a:tableStyleId>{5C22544A-7EE6-4342-B048-85BDC9FD1C3A}</a:tableStyleId>
              </a:tblPr>
              <a:tblGrid>
                <a:gridCol w="677398">
                  <a:extLst>
                    <a:ext uri="{9D8B030D-6E8A-4147-A177-3AD203B41FA5}">
                      <a16:colId xmlns:a16="http://schemas.microsoft.com/office/drawing/2014/main" val="1372388292"/>
                    </a:ext>
                  </a:extLst>
                </a:gridCol>
                <a:gridCol w="2194773">
                  <a:extLst>
                    <a:ext uri="{9D8B030D-6E8A-4147-A177-3AD203B41FA5}">
                      <a16:colId xmlns:a16="http://schemas.microsoft.com/office/drawing/2014/main" val="572660071"/>
                    </a:ext>
                  </a:extLst>
                </a:gridCol>
                <a:gridCol w="4606316">
                  <a:extLst>
                    <a:ext uri="{9D8B030D-6E8A-4147-A177-3AD203B41FA5}">
                      <a16:colId xmlns:a16="http://schemas.microsoft.com/office/drawing/2014/main" val="4290224725"/>
                    </a:ext>
                  </a:extLst>
                </a:gridCol>
                <a:gridCol w="2492828">
                  <a:extLst>
                    <a:ext uri="{9D8B030D-6E8A-4147-A177-3AD203B41FA5}">
                      <a16:colId xmlns:a16="http://schemas.microsoft.com/office/drawing/2014/main" val="4143847589"/>
                    </a:ext>
                  </a:extLst>
                </a:gridCol>
              </a:tblGrid>
              <a:tr h="391024">
                <a:tc>
                  <a:txBody>
                    <a:bodyPr/>
                    <a:lstStyle/>
                    <a:p>
                      <a:pPr algn="ctr">
                        <a:buNone/>
                      </a:pPr>
                      <a:r>
                        <a:rPr lang="en-IN" sz="2200" b="0" i="0">
                          <a:solidFill>
                            <a:schemeClr val="bg1"/>
                          </a:solidFill>
                          <a:effectLst/>
                          <a:latin typeface="+mn-lt"/>
                        </a:rPr>
                        <a:t>#</a:t>
                      </a:r>
                    </a:p>
                  </a:txBody>
                  <a:tcPr marL="12700" marR="12700" marT="12700" marB="12700" anchor="ctr"/>
                </a:tc>
                <a:tc>
                  <a:txBody>
                    <a:bodyPr/>
                    <a:lstStyle/>
                    <a:p>
                      <a:pPr algn="ctr">
                        <a:buNone/>
                      </a:pPr>
                      <a:r>
                        <a:rPr lang="en-IN" sz="2200" b="0" i="0">
                          <a:solidFill>
                            <a:schemeClr val="bg1"/>
                          </a:solidFill>
                          <a:effectLst/>
                          <a:latin typeface="+mn-lt"/>
                        </a:rPr>
                        <a:t>Phase</a:t>
                      </a:r>
                    </a:p>
                  </a:txBody>
                  <a:tcPr marL="12700" marR="12700" marT="12700" marB="12700" anchor="ctr"/>
                </a:tc>
                <a:tc>
                  <a:txBody>
                    <a:bodyPr/>
                    <a:lstStyle/>
                    <a:p>
                      <a:pPr algn="ctr">
                        <a:buNone/>
                      </a:pPr>
                      <a:r>
                        <a:rPr lang="en-IN" sz="2200" b="0" i="0">
                          <a:solidFill>
                            <a:schemeClr val="bg1"/>
                          </a:solidFill>
                          <a:effectLst/>
                          <a:latin typeface="+mn-lt"/>
                        </a:rPr>
                        <a:t>Milestone</a:t>
                      </a:r>
                    </a:p>
                  </a:txBody>
                  <a:tcPr marL="12700" marR="12700" marT="12700" marB="12700" anchor="ctr"/>
                </a:tc>
                <a:tc>
                  <a:txBody>
                    <a:bodyPr/>
                    <a:lstStyle/>
                    <a:p>
                      <a:pPr algn="ctr">
                        <a:buNone/>
                      </a:pPr>
                      <a:r>
                        <a:rPr lang="en-IN" sz="2200" b="0" i="0" dirty="0">
                          <a:solidFill>
                            <a:schemeClr val="bg1"/>
                          </a:solidFill>
                          <a:effectLst/>
                          <a:latin typeface="+mn-lt"/>
                        </a:rPr>
                        <a:t>Status</a:t>
                      </a:r>
                    </a:p>
                  </a:txBody>
                  <a:tcPr marL="12700" marR="12700" marT="12700" marB="12700" anchor="ctr"/>
                </a:tc>
                <a:extLst>
                  <a:ext uri="{0D108BD9-81ED-4DB2-BD59-A6C34878D82A}">
                    <a16:rowId xmlns:a16="http://schemas.microsoft.com/office/drawing/2014/main" val="2610071373"/>
                  </a:ext>
                </a:extLst>
              </a:tr>
              <a:tr h="733839">
                <a:tc>
                  <a:txBody>
                    <a:bodyPr/>
                    <a:lstStyle/>
                    <a:p>
                      <a:pPr algn="ctr">
                        <a:buNone/>
                      </a:pPr>
                      <a:r>
                        <a:rPr lang="en-IN" sz="2200" b="0" i="0" dirty="0">
                          <a:solidFill>
                            <a:schemeClr val="tx1"/>
                          </a:solidFill>
                          <a:effectLst/>
                          <a:latin typeface="+mn-lt"/>
                        </a:rPr>
                        <a:t>1</a:t>
                      </a:r>
                    </a:p>
                  </a:txBody>
                  <a:tcPr marL="12700" marR="12700" marT="12700" marB="12700" anchor="ctr"/>
                </a:tc>
                <a:tc>
                  <a:txBody>
                    <a:bodyPr/>
                    <a:lstStyle/>
                    <a:p>
                      <a:pPr algn="ctr">
                        <a:buNone/>
                      </a:pPr>
                      <a:r>
                        <a:rPr lang="en-IN" sz="2200" b="0" i="0">
                          <a:solidFill>
                            <a:schemeClr val="tx1"/>
                          </a:solidFill>
                          <a:effectLst/>
                          <a:latin typeface="+mn-lt"/>
                        </a:rPr>
                        <a:t>Foundation</a:t>
                      </a:r>
                    </a:p>
                  </a:txBody>
                  <a:tcPr marL="12700" marR="12700" marT="12700" marB="12700" anchor="ctr"/>
                </a:tc>
                <a:tc>
                  <a:txBody>
                    <a:bodyPr/>
                    <a:lstStyle/>
                    <a:p>
                      <a:pPr algn="ctr">
                        <a:buNone/>
                      </a:pPr>
                      <a:r>
                        <a:rPr lang="en-IN" sz="2200" b="0" i="0" dirty="0">
                          <a:solidFill>
                            <a:schemeClr val="tx1"/>
                          </a:solidFill>
                          <a:effectLst/>
                          <a:latin typeface="+mn-lt"/>
                        </a:rPr>
                        <a:t>Environment, toolchain and dependency set validated</a:t>
                      </a:r>
                    </a:p>
                  </a:txBody>
                  <a:tcPr marL="12700" marR="12700" marT="12700" marB="12700" anchor="ctr"/>
                </a:tc>
                <a:tc>
                  <a:txBody>
                    <a:bodyPr/>
                    <a:lstStyle/>
                    <a:p>
                      <a:pPr algn="ctr">
                        <a:buNone/>
                      </a:pPr>
                      <a:r>
                        <a:rPr lang="en-IN" sz="2200" b="0" i="0">
                          <a:solidFill>
                            <a:schemeClr val="tx1"/>
                          </a:solidFill>
                          <a:effectLst/>
                          <a:latin typeface="+mn-lt"/>
                        </a:rPr>
                        <a:t>Complete</a:t>
                      </a:r>
                    </a:p>
                  </a:txBody>
                  <a:tcPr marL="12700" marR="12700" marT="12700" marB="12700" anchor="ctr"/>
                </a:tc>
                <a:extLst>
                  <a:ext uri="{0D108BD9-81ED-4DB2-BD59-A6C34878D82A}">
                    <a16:rowId xmlns:a16="http://schemas.microsoft.com/office/drawing/2014/main" val="257374112"/>
                  </a:ext>
                </a:extLst>
              </a:tr>
              <a:tr h="1087368">
                <a:tc>
                  <a:txBody>
                    <a:bodyPr/>
                    <a:lstStyle/>
                    <a:p>
                      <a:pPr algn="ctr">
                        <a:buNone/>
                      </a:pPr>
                      <a:r>
                        <a:rPr lang="en-IN" sz="2200" b="0" i="0" dirty="0">
                          <a:solidFill>
                            <a:schemeClr val="tx1"/>
                          </a:solidFill>
                          <a:effectLst/>
                          <a:latin typeface="+mn-lt"/>
                        </a:rPr>
                        <a:t>2</a:t>
                      </a:r>
                    </a:p>
                  </a:txBody>
                  <a:tcPr marL="12700" marR="12700" marT="12700" marB="12700" anchor="ctr"/>
                </a:tc>
                <a:tc>
                  <a:txBody>
                    <a:bodyPr/>
                    <a:lstStyle/>
                    <a:p>
                      <a:pPr algn="ctr">
                        <a:buNone/>
                      </a:pPr>
                      <a:r>
                        <a:rPr lang="en-IN" sz="2200" b="0" i="0">
                          <a:solidFill>
                            <a:schemeClr val="tx1"/>
                          </a:solidFill>
                          <a:effectLst/>
                          <a:latin typeface="+mn-lt"/>
                        </a:rPr>
                        <a:t>Persistence</a:t>
                      </a:r>
                    </a:p>
                  </a:txBody>
                  <a:tcPr marL="12700" marR="12700" marT="12700" marB="12700" anchor="ctr"/>
                </a:tc>
                <a:tc>
                  <a:txBody>
                    <a:bodyPr/>
                    <a:lstStyle/>
                    <a:p>
                      <a:pPr algn="ctr">
                        <a:buNone/>
                      </a:pPr>
                      <a:r>
                        <a:rPr lang="en-IN" sz="2200" b="0" i="0" dirty="0">
                          <a:solidFill>
                            <a:schemeClr val="tx1"/>
                          </a:solidFill>
                          <a:effectLst/>
                          <a:latin typeface="+mn-lt"/>
                        </a:rPr>
                        <a:t>PostgreSQL schema, Alembic migrations, bounded transactions</a:t>
                      </a:r>
                    </a:p>
                  </a:txBody>
                  <a:tcPr marL="12700" marR="12700" marT="12700" marB="12700" anchor="ctr"/>
                </a:tc>
                <a:tc>
                  <a:txBody>
                    <a:bodyPr/>
                    <a:lstStyle/>
                    <a:p>
                      <a:pPr algn="ctr">
                        <a:buNone/>
                      </a:pPr>
                      <a:r>
                        <a:rPr lang="en-IN" sz="2200" b="0" i="0" dirty="0">
                          <a:solidFill>
                            <a:schemeClr val="tx1"/>
                          </a:solidFill>
                          <a:effectLst/>
                          <a:latin typeface="+mn-lt"/>
                        </a:rPr>
                        <a:t>Complete</a:t>
                      </a:r>
                    </a:p>
                  </a:txBody>
                  <a:tcPr marL="12700" marR="12700" marT="12700" marB="12700" anchor="ctr"/>
                </a:tc>
                <a:extLst>
                  <a:ext uri="{0D108BD9-81ED-4DB2-BD59-A6C34878D82A}">
                    <a16:rowId xmlns:a16="http://schemas.microsoft.com/office/drawing/2014/main" val="1310856841"/>
                  </a:ext>
                </a:extLst>
              </a:tr>
              <a:tr h="733839">
                <a:tc>
                  <a:txBody>
                    <a:bodyPr/>
                    <a:lstStyle/>
                    <a:p>
                      <a:pPr algn="ctr">
                        <a:buNone/>
                      </a:pPr>
                      <a:r>
                        <a:rPr lang="en-IN" sz="2200" b="0" i="0">
                          <a:solidFill>
                            <a:schemeClr val="tx1"/>
                          </a:solidFill>
                          <a:effectLst/>
                          <a:latin typeface="+mn-lt"/>
                        </a:rPr>
                        <a:t>3</a:t>
                      </a:r>
                    </a:p>
                  </a:txBody>
                  <a:tcPr marL="12700" marR="12700" marT="12700" marB="12700" anchor="ctr"/>
                </a:tc>
                <a:tc>
                  <a:txBody>
                    <a:bodyPr/>
                    <a:lstStyle/>
                    <a:p>
                      <a:pPr algn="ctr">
                        <a:buNone/>
                      </a:pPr>
                      <a:r>
                        <a:rPr lang="en-IN" sz="2200" b="0" i="0">
                          <a:solidFill>
                            <a:schemeClr val="tx1"/>
                          </a:solidFill>
                          <a:effectLst/>
                          <a:latin typeface="+mn-lt"/>
                        </a:rPr>
                        <a:t>Storage</a:t>
                      </a:r>
                    </a:p>
                  </a:txBody>
                  <a:tcPr marL="12700" marR="12700" marT="12700" marB="12700" anchor="ctr"/>
                </a:tc>
                <a:tc>
                  <a:txBody>
                    <a:bodyPr/>
                    <a:lstStyle/>
                    <a:p>
                      <a:pPr algn="ctr">
                        <a:buNone/>
                      </a:pPr>
                      <a:r>
                        <a:rPr lang="en-IN" sz="2200" b="0" i="0">
                          <a:solidFill>
                            <a:schemeClr val="tx1"/>
                          </a:solidFill>
                          <a:effectLst/>
                          <a:latin typeface="+mn-lt"/>
                        </a:rPr>
                        <a:t>S3-protocol object store, intake with hashing and type validation</a:t>
                      </a:r>
                    </a:p>
                  </a:txBody>
                  <a:tcPr marL="12700" marR="12700" marT="12700" marB="12700" anchor="ctr"/>
                </a:tc>
                <a:tc>
                  <a:txBody>
                    <a:bodyPr/>
                    <a:lstStyle/>
                    <a:p>
                      <a:pPr algn="ctr">
                        <a:buNone/>
                      </a:pPr>
                      <a:r>
                        <a:rPr lang="en-IN" sz="2200" b="0" i="0" dirty="0">
                          <a:solidFill>
                            <a:schemeClr val="tx1"/>
                          </a:solidFill>
                          <a:effectLst/>
                          <a:latin typeface="+mn-lt"/>
                        </a:rPr>
                        <a:t>Complete</a:t>
                      </a:r>
                    </a:p>
                  </a:txBody>
                  <a:tcPr marL="12700" marR="12700" marT="12700" marB="12700" anchor="ctr"/>
                </a:tc>
                <a:extLst>
                  <a:ext uri="{0D108BD9-81ED-4DB2-BD59-A6C34878D82A}">
                    <a16:rowId xmlns:a16="http://schemas.microsoft.com/office/drawing/2014/main" val="3411269911"/>
                  </a:ext>
                </a:extLst>
              </a:tr>
              <a:tr h="1087368">
                <a:tc>
                  <a:txBody>
                    <a:bodyPr/>
                    <a:lstStyle/>
                    <a:p>
                      <a:pPr algn="ctr">
                        <a:buNone/>
                      </a:pPr>
                      <a:r>
                        <a:rPr lang="en-IN" sz="2200" b="0" i="0">
                          <a:solidFill>
                            <a:schemeClr val="tx1"/>
                          </a:solidFill>
                          <a:effectLst/>
                          <a:latin typeface="+mn-lt"/>
                        </a:rPr>
                        <a:t>4</a:t>
                      </a:r>
                    </a:p>
                  </a:txBody>
                  <a:tcPr marL="12700" marR="12700" marT="12700" marB="12700" anchor="ctr"/>
                </a:tc>
                <a:tc>
                  <a:txBody>
                    <a:bodyPr/>
                    <a:lstStyle/>
                    <a:p>
                      <a:pPr algn="ctr">
                        <a:buNone/>
                      </a:pPr>
                      <a:r>
                        <a:rPr lang="en-IN" sz="2200" b="0" i="0">
                          <a:solidFill>
                            <a:schemeClr val="tx1"/>
                          </a:solidFill>
                          <a:effectLst/>
                          <a:latin typeface="+mn-lt"/>
                        </a:rPr>
                        <a:t>Extraction</a:t>
                      </a:r>
                    </a:p>
                  </a:txBody>
                  <a:tcPr marL="12700" marR="12700" marT="12700" marB="12700" anchor="ctr"/>
                </a:tc>
                <a:tc>
                  <a:txBody>
                    <a:bodyPr/>
                    <a:lstStyle/>
                    <a:p>
                      <a:pPr algn="ctr">
                        <a:buNone/>
                      </a:pPr>
                      <a:r>
                        <a:rPr lang="en-IN" sz="2200" b="0" i="0">
                          <a:solidFill>
                            <a:schemeClr val="tx1"/>
                          </a:solidFill>
                          <a:effectLst/>
                          <a:latin typeface="+mn-lt"/>
                        </a:rPr>
                        <a:t>Citable source representation; 5.2× persistence throughput improvement</a:t>
                      </a:r>
                    </a:p>
                  </a:txBody>
                  <a:tcPr marL="12700" marR="12700" marT="12700" marB="12700" anchor="ctr"/>
                </a:tc>
                <a:tc>
                  <a:txBody>
                    <a:bodyPr/>
                    <a:lstStyle/>
                    <a:p>
                      <a:pPr algn="ctr">
                        <a:buNone/>
                      </a:pPr>
                      <a:r>
                        <a:rPr lang="en-IN" sz="2200" b="0" i="0">
                          <a:solidFill>
                            <a:schemeClr val="tx1"/>
                          </a:solidFill>
                          <a:effectLst/>
                          <a:latin typeface="+mn-lt"/>
                        </a:rPr>
                        <a:t>Complete</a:t>
                      </a:r>
                    </a:p>
                  </a:txBody>
                  <a:tcPr marL="12700" marR="12700" marT="12700" marB="12700" anchor="ctr"/>
                </a:tc>
                <a:extLst>
                  <a:ext uri="{0D108BD9-81ED-4DB2-BD59-A6C34878D82A}">
                    <a16:rowId xmlns:a16="http://schemas.microsoft.com/office/drawing/2014/main" val="4062700280"/>
                  </a:ext>
                </a:extLst>
              </a:tr>
              <a:tr h="1087368">
                <a:tc>
                  <a:txBody>
                    <a:bodyPr/>
                    <a:lstStyle/>
                    <a:p>
                      <a:pPr algn="ctr">
                        <a:buNone/>
                      </a:pPr>
                      <a:r>
                        <a:rPr lang="en-IN" sz="2200" b="0" i="0">
                          <a:solidFill>
                            <a:schemeClr val="tx1"/>
                          </a:solidFill>
                          <a:effectLst/>
                          <a:latin typeface="+mn-lt"/>
                        </a:rPr>
                        <a:t>5</a:t>
                      </a:r>
                    </a:p>
                  </a:txBody>
                  <a:tcPr marL="12700" marR="12700" marT="12700" marB="12700" anchor="ctr"/>
                </a:tc>
                <a:tc>
                  <a:txBody>
                    <a:bodyPr/>
                    <a:lstStyle/>
                    <a:p>
                      <a:pPr algn="ctr">
                        <a:buNone/>
                      </a:pPr>
                      <a:r>
                        <a:rPr lang="en-IN" sz="2200" b="0" i="0">
                          <a:solidFill>
                            <a:schemeClr val="tx1"/>
                          </a:solidFill>
                          <a:effectLst/>
                          <a:latin typeface="+mn-lt"/>
                        </a:rPr>
                        <a:t>Corpus</a:t>
                      </a:r>
                    </a:p>
                  </a:txBody>
                  <a:tcPr marL="12700" marR="12700" marT="12700" marB="12700" anchor="ctr"/>
                </a:tc>
                <a:tc>
                  <a:txBody>
                    <a:bodyPr/>
                    <a:lstStyle/>
                    <a:p>
                      <a:pPr algn="ctr">
                        <a:buNone/>
                      </a:pPr>
                      <a:r>
                        <a:rPr lang="en-IN" sz="2200" b="0" i="0" dirty="0">
                          <a:solidFill>
                            <a:schemeClr val="tx1"/>
                          </a:solidFill>
                          <a:effectLst/>
                          <a:latin typeface="+mn-lt"/>
                        </a:rPr>
                        <a:t>3 real filings ingested; development / held-out split frozen</a:t>
                      </a:r>
                    </a:p>
                  </a:txBody>
                  <a:tcPr marL="12700" marR="12700" marT="12700" marB="12700" anchor="ctr"/>
                </a:tc>
                <a:tc>
                  <a:txBody>
                    <a:bodyPr/>
                    <a:lstStyle/>
                    <a:p>
                      <a:pPr algn="ctr">
                        <a:buNone/>
                      </a:pPr>
                      <a:r>
                        <a:rPr lang="en-IN" sz="2200" b="0" i="0" dirty="0">
                          <a:solidFill>
                            <a:schemeClr val="tx1"/>
                          </a:solidFill>
                          <a:effectLst/>
                          <a:latin typeface="+mn-lt"/>
                        </a:rPr>
                        <a:t>Complete</a:t>
                      </a:r>
                    </a:p>
                  </a:txBody>
                  <a:tcPr marL="12700" marR="12700" marT="12700" marB="12700" anchor="ctr"/>
                </a:tc>
                <a:extLst>
                  <a:ext uri="{0D108BD9-81ED-4DB2-BD59-A6C34878D82A}">
                    <a16:rowId xmlns:a16="http://schemas.microsoft.com/office/drawing/2014/main" val="2193130396"/>
                  </a:ext>
                </a:extLst>
              </a:tr>
            </a:tbl>
          </a:graphicData>
        </a:graphic>
      </p:graphicFrame>
    </p:spTree>
    <p:extLst>
      <p:ext uri="{BB962C8B-B14F-4D97-AF65-F5344CB8AC3E}">
        <p14:creationId xmlns:p14="http://schemas.microsoft.com/office/powerpoint/2010/main" val="2501109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0D762-6333-8E75-E266-C41F7238B4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604A8B9-5BE0-35A0-E24C-827D60C2736A}"/>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Project plan/Milestone </a:t>
            </a:r>
            <a:r>
              <a:rPr lang="fr-FR" sz="3600" b="1" dirty="0" err="1">
                <a:solidFill>
                  <a:srgbClr val="5B9BD5">
                    <a:lumMod val="50000"/>
                  </a:srgbClr>
                </a:solidFill>
              </a:rPr>
              <a:t>progress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F1DF4C6A-783D-7AC2-1BB2-5691DC4D7E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D4E0A7B-7FFA-BBD8-72E4-14D699ADEFA8}"/>
              </a:ext>
            </a:extLst>
          </p:cNvPr>
          <p:cNvSpPr txBox="1"/>
          <p:nvPr/>
        </p:nvSpPr>
        <p:spPr>
          <a:xfrm>
            <a:off x="4419601" y="57036"/>
            <a:ext cx="7772400"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graphicFrame>
        <p:nvGraphicFramePr>
          <p:cNvPr id="8" name="Table 7">
            <a:extLst>
              <a:ext uri="{FF2B5EF4-FFF2-40B4-BE49-F238E27FC236}">
                <a16:creationId xmlns:a16="http://schemas.microsoft.com/office/drawing/2014/main" id="{FC792D61-70B2-827D-97D4-F1E7FF45FC1C}"/>
              </a:ext>
            </a:extLst>
          </p:cNvPr>
          <p:cNvGraphicFramePr>
            <a:graphicFrameLocks noGrp="1"/>
          </p:cNvGraphicFramePr>
          <p:nvPr>
            <p:extLst>
              <p:ext uri="{D42A27DB-BD31-4B8C-83A1-F6EECF244321}">
                <p14:modId xmlns:p14="http://schemas.microsoft.com/office/powerpoint/2010/main" val="3020780607"/>
              </p:ext>
            </p:extLst>
          </p:nvPr>
        </p:nvGraphicFramePr>
        <p:xfrm>
          <a:off x="1458685" y="1267294"/>
          <a:ext cx="9971315" cy="4534791"/>
        </p:xfrm>
        <a:graphic>
          <a:graphicData uri="http://schemas.openxmlformats.org/drawingml/2006/table">
            <a:tbl>
              <a:tblPr firstRow="1" bandRow="1">
                <a:tableStyleId>{5C22544A-7EE6-4342-B048-85BDC9FD1C3A}</a:tableStyleId>
              </a:tblPr>
              <a:tblGrid>
                <a:gridCol w="677398">
                  <a:extLst>
                    <a:ext uri="{9D8B030D-6E8A-4147-A177-3AD203B41FA5}">
                      <a16:colId xmlns:a16="http://schemas.microsoft.com/office/drawing/2014/main" val="1372388292"/>
                    </a:ext>
                  </a:extLst>
                </a:gridCol>
                <a:gridCol w="2194773">
                  <a:extLst>
                    <a:ext uri="{9D8B030D-6E8A-4147-A177-3AD203B41FA5}">
                      <a16:colId xmlns:a16="http://schemas.microsoft.com/office/drawing/2014/main" val="572660071"/>
                    </a:ext>
                  </a:extLst>
                </a:gridCol>
                <a:gridCol w="4606316">
                  <a:extLst>
                    <a:ext uri="{9D8B030D-6E8A-4147-A177-3AD203B41FA5}">
                      <a16:colId xmlns:a16="http://schemas.microsoft.com/office/drawing/2014/main" val="4290224725"/>
                    </a:ext>
                  </a:extLst>
                </a:gridCol>
                <a:gridCol w="2492828">
                  <a:extLst>
                    <a:ext uri="{9D8B030D-6E8A-4147-A177-3AD203B41FA5}">
                      <a16:colId xmlns:a16="http://schemas.microsoft.com/office/drawing/2014/main" val="4143847589"/>
                    </a:ext>
                  </a:extLst>
                </a:gridCol>
              </a:tblGrid>
              <a:tr h="404200">
                <a:tc>
                  <a:txBody>
                    <a:bodyPr/>
                    <a:lstStyle/>
                    <a:p>
                      <a:pPr algn="ctr">
                        <a:buNone/>
                      </a:pPr>
                      <a:r>
                        <a:rPr lang="en-IN" sz="2200" b="0" i="0">
                          <a:solidFill>
                            <a:schemeClr val="bg1"/>
                          </a:solidFill>
                          <a:effectLst/>
                          <a:latin typeface="+mn-lt"/>
                        </a:rPr>
                        <a:t>#</a:t>
                      </a:r>
                    </a:p>
                  </a:txBody>
                  <a:tcPr marL="12700" marR="12700" marT="12700" marB="12700" anchor="ctr"/>
                </a:tc>
                <a:tc>
                  <a:txBody>
                    <a:bodyPr/>
                    <a:lstStyle/>
                    <a:p>
                      <a:pPr algn="ctr">
                        <a:buNone/>
                      </a:pPr>
                      <a:r>
                        <a:rPr lang="en-IN" sz="2200" b="0" i="0">
                          <a:solidFill>
                            <a:schemeClr val="bg1"/>
                          </a:solidFill>
                          <a:effectLst/>
                          <a:latin typeface="+mn-lt"/>
                        </a:rPr>
                        <a:t>Phase</a:t>
                      </a:r>
                    </a:p>
                  </a:txBody>
                  <a:tcPr marL="12700" marR="12700" marT="12700" marB="12700" anchor="ctr"/>
                </a:tc>
                <a:tc>
                  <a:txBody>
                    <a:bodyPr/>
                    <a:lstStyle/>
                    <a:p>
                      <a:pPr algn="ctr">
                        <a:buNone/>
                      </a:pPr>
                      <a:r>
                        <a:rPr lang="en-IN" sz="2200" b="0" i="0">
                          <a:solidFill>
                            <a:schemeClr val="bg1"/>
                          </a:solidFill>
                          <a:effectLst/>
                          <a:latin typeface="+mn-lt"/>
                        </a:rPr>
                        <a:t>Milestone</a:t>
                      </a:r>
                    </a:p>
                  </a:txBody>
                  <a:tcPr marL="12700" marR="12700" marT="12700" marB="12700" anchor="ctr"/>
                </a:tc>
                <a:tc>
                  <a:txBody>
                    <a:bodyPr/>
                    <a:lstStyle/>
                    <a:p>
                      <a:pPr algn="ctr">
                        <a:buNone/>
                      </a:pPr>
                      <a:r>
                        <a:rPr lang="en-IN" sz="2200" b="0" i="0" dirty="0">
                          <a:solidFill>
                            <a:schemeClr val="bg1"/>
                          </a:solidFill>
                          <a:effectLst/>
                          <a:latin typeface="+mn-lt"/>
                        </a:rPr>
                        <a:t>Status</a:t>
                      </a:r>
                    </a:p>
                  </a:txBody>
                  <a:tcPr marL="12700" marR="12700" marT="12700" marB="12700" anchor="ctr"/>
                </a:tc>
                <a:extLst>
                  <a:ext uri="{0D108BD9-81ED-4DB2-BD59-A6C34878D82A}">
                    <a16:rowId xmlns:a16="http://schemas.microsoft.com/office/drawing/2014/main" val="2610071373"/>
                  </a:ext>
                </a:extLst>
              </a:tr>
              <a:tr h="1124008">
                <a:tc>
                  <a:txBody>
                    <a:bodyPr/>
                    <a:lstStyle/>
                    <a:p>
                      <a:pPr algn="ctr">
                        <a:buNone/>
                      </a:pPr>
                      <a:r>
                        <a:rPr lang="en-US" sz="2200" b="0" i="0" dirty="0">
                          <a:solidFill>
                            <a:schemeClr val="tx1"/>
                          </a:solidFill>
                          <a:effectLst/>
                          <a:latin typeface="+mn-lt"/>
                        </a:rPr>
                        <a:t>6</a:t>
                      </a:r>
                      <a:endParaRPr lang="en-IN" sz="2200" b="0" i="0" dirty="0">
                        <a:solidFill>
                          <a:schemeClr val="tx1"/>
                        </a:solidFill>
                        <a:effectLst/>
                        <a:latin typeface="+mn-lt"/>
                      </a:endParaRPr>
                    </a:p>
                  </a:txBody>
                  <a:tcPr marL="12700" marR="12700" marT="12700" marB="12700" anchor="ctr"/>
                </a:tc>
                <a:tc>
                  <a:txBody>
                    <a:bodyPr/>
                    <a:lstStyle/>
                    <a:p>
                      <a:pPr algn="ctr">
                        <a:buNone/>
                      </a:pPr>
                      <a:r>
                        <a:rPr lang="en-IN" sz="2200" b="0" i="0">
                          <a:solidFill>
                            <a:schemeClr val="tx1"/>
                          </a:solidFill>
                          <a:effectLst/>
                          <a:latin typeface="+mn-lt"/>
                        </a:rPr>
                        <a:t>Retrieval</a:t>
                      </a:r>
                    </a:p>
                  </a:txBody>
                  <a:tcPr marL="12700" marR="12700" marT="12700" marB="12700" anchor="ctr"/>
                </a:tc>
                <a:tc>
                  <a:txBody>
                    <a:bodyPr/>
                    <a:lstStyle/>
                    <a:p>
                      <a:pPr algn="ctr">
                        <a:buNone/>
                      </a:pPr>
                      <a:r>
                        <a:rPr lang="en-IN" sz="2200" b="0" i="0">
                          <a:solidFill>
                            <a:schemeClr val="tx1"/>
                          </a:solidFill>
                          <a:effectLst/>
                          <a:latin typeface="+mn-lt"/>
                        </a:rPr>
                        <a:t>Parent/child chunking, embedding, Qdrant dense + BM25 sparse index</a:t>
                      </a:r>
                    </a:p>
                  </a:txBody>
                  <a:tcPr marL="12700" marR="12700" marT="12700" marB="12700" anchor="ctr"/>
                </a:tc>
                <a:tc>
                  <a:txBody>
                    <a:bodyPr/>
                    <a:lstStyle/>
                    <a:p>
                      <a:pPr algn="ctr">
                        <a:buNone/>
                      </a:pPr>
                      <a:r>
                        <a:rPr lang="en-IN" sz="2200" b="0" i="0" dirty="0">
                          <a:solidFill>
                            <a:schemeClr val="tx1"/>
                          </a:solidFill>
                          <a:effectLst/>
                          <a:latin typeface="+mn-lt"/>
                        </a:rPr>
                        <a:t>Complete</a:t>
                      </a:r>
                    </a:p>
                  </a:txBody>
                  <a:tcPr marL="12700" marR="12700" marT="12700" marB="12700" anchor="ctr"/>
                </a:tc>
                <a:extLst>
                  <a:ext uri="{0D108BD9-81ED-4DB2-BD59-A6C34878D82A}">
                    <a16:rowId xmlns:a16="http://schemas.microsoft.com/office/drawing/2014/main" val="1310856841"/>
                  </a:ext>
                </a:extLst>
              </a:tr>
              <a:tr h="758567">
                <a:tc>
                  <a:txBody>
                    <a:bodyPr/>
                    <a:lstStyle/>
                    <a:p>
                      <a:pPr algn="ctr">
                        <a:buNone/>
                      </a:pPr>
                      <a:r>
                        <a:rPr lang="en-US" sz="2200" b="0" i="0" dirty="0">
                          <a:solidFill>
                            <a:schemeClr val="tx1"/>
                          </a:solidFill>
                          <a:effectLst/>
                          <a:latin typeface="+mn-lt"/>
                        </a:rPr>
                        <a:t>7</a:t>
                      </a:r>
                      <a:endParaRPr lang="en-IN" sz="2200" b="0" i="0" dirty="0">
                        <a:solidFill>
                          <a:schemeClr val="tx1"/>
                        </a:solidFill>
                        <a:effectLst/>
                        <a:latin typeface="+mn-lt"/>
                      </a:endParaRPr>
                    </a:p>
                  </a:txBody>
                  <a:tcPr marL="12700" marR="12700" marT="12700" marB="12700" anchor="ctr"/>
                </a:tc>
                <a:tc>
                  <a:txBody>
                    <a:bodyPr/>
                    <a:lstStyle/>
                    <a:p>
                      <a:pPr algn="ctr">
                        <a:buNone/>
                      </a:pPr>
                      <a:r>
                        <a:rPr lang="en-IN" sz="2200" b="0" i="0">
                          <a:solidFill>
                            <a:schemeClr val="tx1"/>
                          </a:solidFill>
                          <a:effectLst/>
                          <a:latin typeface="+mn-lt"/>
                        </a:rPr>
                        <a:t>Hybrid search</a:t>
                      </a:r>
                    </a:p>
                  </a:txBody>
                  <a:tcPr marL="12700" marR="12700" marT="12700" marB="12700" anchor="ctr"/>
                </a:tc>
                <a:tc>
                  <a:txBody>
                    <a:bodyPr/>
                    <a:lstStyle/>
                    <a:p>
                      <a:pPr algn="ctr">
                        <a:buNone/>
                      </a:pPr>
                      <a:r>
                        <a:rPr lang="en-IN" sz="2200" b="0" i="0">
                          <a:solidFill>
                            <a:schemeClr val="tx1"/>
                          </a:solidFill>
                          <a:effectLst/>
                          <a:latin typeface="+mn-lt"/>
                        </a:rPr>
                        <a:t>RRF fusion, hard metadata filters, degradation path, QueryTrace</a:t>
                      </a:r>
                    </a:p>
                  </a:txBody>
                  <a:tcPr marL="12700" marR="12700" marT="12700" marB="12700" anchor="ctr"/>
                </a:tc>
                <a:tc>
                  <a:txBody>
                    <a:bodyPr/>
                    <a:lstStyle/>
                    <a:p>
                      <a:pPr algn="ctr">
                        <a:buNone/>
                      </a:pPr>
                      <a:r>
                        <a:rPr lang="en-IN" sz="2200" b="0" i="0">
                          <a:solidFill>
                            <a:schemeClr val="tx1"/>
                          </a:solidFill>
                          <a:effectLst/>
                          <a:latin typeface="+mn-lt"/>
                        </a:rPr>
                        <a:t>Complete</a:t>
                      </a:r>
                    </a:p>
                  </a:txBody>
                  <a:tcPr marL="12700" marR="12700" marT="12700" marB="12700" anchor="ctr"/>
                </a:tc>
                <a:extLst>
                  <a:ext uri="{0D108BD9-81ED-4DB2-BD59-A6C34878D82A}">
                    <a16:rowId xmlns:a16="http://schemas.microsoft.com/office/drawing/2014/main" val="3411269911"/>
                  </a:ext>
                </a:extLst>
              </a:tr>
              <a:tr h="1124008">
                <a:tc>
                  <a:txBody>
                    <a:bodyPr/>
                    <a:lstStyle/>
                    <a:p>
                      <a:pPr algn="ctr">
                        <a:buNone/>
                      </a:pPr>
                      <a:r>
                        <a:rPr lang="en-US" sz="2200" b="0" i="0" dirty="0">
                          <a:solidFill>
                            <a:schemeClr val="tx1"/>
                          </a:solidFill>
                          <a:effectLst/>
                          <a:latin typeface="+mn-lt"/>
                        </a:rPr>
                        <a:t>8</a:t>
                      </a:r>
                      <a:endParaRPr lang="en-IN" sz="2200" b="0" i="0" dirty="0">
                        <a:solidFill>
                          <a:schemeClr val="tx1"/>
                        </a:solidFill>
                        <a:effectLst/>
                        <a:latin typeface="+mn-lt"/>
                      </a:endParaRPr>
                    </a:p>
                  </a:txBody>
                  <a:tcPr marL="12700" marR="12700" marT="12700" marB="12700" anchor="ctr"/>
                </a:tc>
                <a:tc>
                  <a:txBody>
                    <a:bodyPr/>
                    <a:lstStyle/>
                    <a:p>
                      <a:pPr algn="ctr">
                        <a:buNone/>
                      </a:pPr>
                      <a:r>
                        <a:rPr lang="en-IN" sz="2200" b="0" i="0">
                          <a:solidFill>
                            <a:schemeClr val="tx1"/>
                          </a:solidFill>
                          <a:effectLst/>
                          <a:latin typeface="+mn-lt"/>
                        </a:rPr>
                        <a:t>Reranking</a:t>
                      </a:r>
                    </a:p>
                  </a:txBody>
                  <a:tcPr marL="12700" marR="12700" marT="12700" marB="12700" anchor="ctr"/>
                </a:tc>
                <a:tc>
                  <a:txBody>
                    <a:bodyPr/>
                    <a:lstStyle/>
                    <a:p>
                      <a:pPr algn="ctr">
                        <a:buNone/>
                      </a:pPr>
                      <a:r>
                        <a:rPr lang="en-IN" sz="2200" b="0" i="0">
                          <a:solidFill>
                            <a:schemeClr val="tx1"/>
                          </a:solidFill>
                          <a:effectLst/>
                          <a:latin typeface="+mn-lt"/>
                        </a:rPr>
                        <a:t>Cross-encoder admitted provisionally; latency and failure path measured</a:t>
                      </a:r>
                    </a:p>
                  </a:txBody>
                  <a:tcPr marL="12700" marR="12700" marT="12700" marB="12700" anchor="ctr"/>
                </a:tc>
                <a:tc>
                  <a:txBody>
                    <a:bodyPr/>
                    <a:lstStyle/>
                    <a:p>
                      <a:pPr algn="ctr">
                        <a:buNone/>
                      </a:pPr>
                      <a:r>
                        <a:rPr lang="en-IN" sz="2200" b="0" i="0">
                          <a:solidFill>
                            <a:schemeClr val="tx1"/>
                          </a:solidFill>
                          <a:effectLst/>
                          <a:latin typeface="+mn-lt"/>
                        </a:rPr>
                        <a:t>Complete</a:t>
                      </a:r>
                    </a:p>
                  </a:txBody>
                  <a:tcPr marL="12700" marR="12700" marT="12700" marB="12700" anchor="ctr"/>
                </a:tc>
                <a:extLst>
                  <a:ext uri="{0D108BD9-81ED-4DB2-BD59-A6C34878D82A}">
                    <a16:rowId xmlns:a16="http://schemas.microsoft.com/office/drawing/2014/main" val="4062700280"/>
                  </a:ext>
                </a:extLst>
              </a:tr>
              <a:tr h="1124008">
                <a:tc>
                  <a:txBody>
                    <a:bodyPr/>
                    <a:lstStyle/>
                    <a:p>
                      <a:pPr algn="ctr">
                        <a:buNone/>
                      </a:pPr>
                      <a:r>
                        <a:rPr lang="en-US" sz="2200" b="0" i="0" dirty="0">
                          <a:solidFill>
                            <a:schemeClr val="tx1"/>
                          </a:solidFill>
                          <a:effectLst/>
                          <a:latin typeface="+mn-lt"/>
                        </a:rPr>
                        <a:t>9</a:t>
                      </a:r>
                      <a:endParaRPr lang="en-IN" sz="2200" b="0" i="0" dirty="0">
                        <a:solidFill>
                          <a:schemeClr val="tx1"/>
                        </a:solidFill>
                        <a:effectLst/>
                        <a:latin typeface="+mn-lt"/>
                      </a:endParaRPr>
                    </a:p>
                  </a:txBody>
                  <a:tcPr marL="12700" marR="12700" marT="12700" marB="12700" anchor="ctr"/>
                </a:tc>
                <a:tc>
                  <a:txBody>
                    <a:bodyPr/>
                    <a:lstStyle/>
                    <a:p>
                      <a:pPr algn="ctr">
                        <a:buNone/>
                      </a:pPr>
                      <a:r>
                        <a:rPr lang="en-IN" sz="2200" b="0" i="0">
                          <a:solidFill>
                            <a:schemeClr val="tx1"/>
                          </a:solidFill>
                          <a:effectLst/>
                          <a:latin typeface="+mn-lt"/>
                        </a:rPr>
                        <a:t>Generation</a:t>
                      </a:r>
                    </a:p>
                  </a:txBody>
                  <a:tcPr marL="12700" marR="12700" marT="12700" marB="12700" anchor="ctr"/>
                </a:tc>
                <a:tc>
                  <a:txBody>
                    <a:bodyPr/>
                    <a:lstStyle/>
                    <a:p>
                      <a:pPr algn="ctr">
                        <a:buNone/>
                      </a:pPr>
                      <a:r>
                        <a:rPr lang="en-IN" sz="2200" b="0" i="0" dirty="0">
                          <a:solidFill>
                            <a:schemeClr val="tx1"/>
                          </a:solidFill>
                          <a:effectLst/>
                          <a:latin typeface="+mn-lt"/>
                        </a:rPr>
                        <a:t>Schema-constrained generation, citation resolution, Evidence Gate</a:t>
                      </a:r>
                    </a:p>
                  </a:txBody>
                  <a:tcPr marL="12700" marR="12700" marT="12700" marB="12700" anchor="ctr"/>
                </a:tc>
                <a:tc>
                  <a:txBody>
                    <a:bodyPr/>
                    <a:lstStyle/>
                    <a:p>
                      <a:pPr algn="ctr">
                        <a:buNone/>
                      </a:pPr>
                      <a:r>
                        <a:rPr lang="en-IN" sz="2200" b="0" i="0" dirty="0">
                          <a:solidFill>
                            <a:schemeClr val="tx1"/>
                          </a:solidFill>
                          <a:effectLst/>
                          <a:latin typeface="+mn-lt"/>
                        </a:rPr>
                        <a:t>Complete</a:t>
                      </a:r>
                    </a:p>
                  </a:txBody>
                  <a:tcPr marL="12700" marR="12700" marT="12700" marB="12700" anchor="ctr"/>
                </a:tc>
                <a:extLst>
                  <a:ext uri="{0D108BD9-81ED-4DB2-BD59-A6C34878D82A}">
                    <a16:rowId xmlns:a16="http://schemas.microsoft.com/office/drawing/2014/main" val="2193130396"/>
                  </a:ext>
                </a:extLst>
              </a:tr>
            </a:tbl>
          </a:graphicData>
        </a:graphic>
      </p:graphicFrame>
    </p:spTree>
    <p:extLst>
      <p:ext uri="{BB962C8B-B14F-4D97-AF65-F5344CB8AC3E}">
        <p14:creationId xmlns:p14="http://schemas.microsoft.com/office/powerpoint/2010/main" val="4130629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7BAAC-BF71-D751-9789-EF869324BC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892E57-96BD-6BAD-4C02-9288E9230FB8}"/>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Project plan/Milestone </a:t>
            </a:r>
            <a:r>
              <a:rPr lang="fr-FR" sz="3600" b="1" dirty="0" err="1">
                <a:solidFill>
                  <a:srgbClr val="5B9BD5">
                    <a:lumMod val="50000"/>
                  </a:srgbClr>
                </a:solidFill>
              </a:rPr>
              <a:t>progress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600DD85-8FE5-9469-C752-78432234263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9153B1A-61A6-1A89-5FE2-15A31DED6164}"/>
              </a:ext>
            </a:extLst>
          </p:cNvPr>
          <p:cNvSpPr txBox="1"/>
          <p:nvPr/>
        </p:nvSpPr>
        <p:spPr>
          <a:xfrm>
            <a:off x="4419601" y="57036"/>
            <a:ext cx="7772400"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graphicFrame>
        <p:nvGraphicFramePr>
          <p:cNvPr id="8" name="Table 7">
            <a:extLst>
              <a:ext uri="{FF2B5EF4-FFF2-40B4-BE49-F238E27FC236}">
                <a16:creationId xmlns:a16="http://schemas.microsoft.com/office/drawing/2014/main" id="{090B2C28-309D-E64D-1DCD-C1DF84E6E312}"/>
              </a:ext>
            </a:extLst>
          </p:cNvPr>
          <p:cNvGraphicFramePr>
            <a:graphicFrameLocks noGrp="1"/>
          </p:cNvGraphicFramePr>
          <p:nvPr>
            <p:extLst>
              <p:ext uri="{D42A27DB-BD31-4B8C-83A1-F6EECF244321}">
                <p14:modId xmlns:p14="http://schemas.microsoft.com/office/powerpoint/2010/main" val="3525936242"/>
              </p:ext>
            </p:extLst>
          </p:nvPr>
        </p:nvGraphicFramePr>
        <p:xfrm>
          <a:off x="1458685" y="1267294"/>
          <a:ext cx="9971315" cy="4698074"/>
        </p:xfrm>
        <a:graphic>
          <a:graphicData uri="http://schemas.openxmlformats.org/drawingml/2006/table">
            <a:tbl>
              <a:tblPr firstRow="1" bandRow="1">
                <a:tableStyleId>{5C22544A-7EE6-4342-B048-85BDC9FD1C3A}</a:tableStyleId>
              </a:tblPr>
              <a:tblGrid>
                <a:gridCol w="677397">
                  <a:extLst>
                    <a:ext uri="{9D8B030D-6E8A-4147-A177-3AD203B41FA5}">
                      <a16:colId xmlns:a16="http://schemas.microsoft.com/office/drawing/2014/main" val="1372388292"/>
                    </a:ext>
                  </a:extLst>
                </a:gridCol>
                <a:gridCol w="2194773">
                  <a:extLst>
                    <a:ext uri="{9D8B030D-6E8A-4147-A177-3AD203B41FA5}">
                      <a16:colId xmlns:a16="http://schemas.microsoft.com/office/drawing/2014/main" val="572660071"/>
                    </a:ext>
                  </a:extLst>
                </a:gridCol>
                <a:gridCol w="4606316">
                  <a:extLst>
                    <a:ext uri="{9D8B030D-6E8A-4147-A177-3AD203B41FA5}">
                      <a16:colId xmlns:a16="http://schemas.microsoft.com/office/drawing/2014/main" val="4290224725"/>
                    </a:ext>
                  </a:extLst>
                </a:gridCol>
                <a:gridCol w="2492829">
                  <a:extLst>
                    <a:ext uri="{9D8B030D-6E8A-4147-A177-3AD203B41FA5}">
                      <a16:colId xmlns:a16="http://schemas.microsoft.com/office/drawing/2014/main" val="4143847589"/>
                    </a:ext>
                  </a:extLst>
                </a:gridCol>
              </a:tblGrid>
              <a:tr h="418754">
                <a:tc>
                  <a:txBody>
                    <a:bodyPr/>
                    <a:lstStyle/>
                    <a:p>
                      <a:pPr algn="ctr">
                        <a:buNone/>
                      </a:pPr>
                      <a:r>
                        <a:rPr lang="en-IN" sz="2200" b="0" i="0">
                          <a:solidFill>
                            <a:schemeClr val="bg1"/>
                          </a:solidFill>
                          <a:effectLst/>
                          <a:latin typeface="+mn-lt"/>
                        </a:rPr>
                        <a:t>#</a:t>
                      </a:r>
                    </a:p>
                  </a:txBody>
                  <a:tcPr marL="12700" marR="12700" marT="12700" marB="12700" anchor="ctr"/>
                </a:tc>
                <a:tc>
                  <a:txBody>
                    <a:bodyPr/>
                    <a:lstStyle/>
                    <a:p>
                      <a:pPr algn="ctr">
                        <a:buNone/>
                      </a:pPr>
                      <a:r>
                        <a:rPr lang="en-IN" sz="2200" b="0" i="0">
                          <a:solidFill>
                            <a:schemeClr val="bg1"/>
                          </a:solidFill>
                          <a:effectLst/>
                          <a:latin typeface="+mn-lt"/>
                        </a:rPr>
                        <a:t>Phase</a:t>
                      </a:r>
                    </a:p>
                  </a:txBody>
                  <a:tcPr marL="12700" marR="12700" marT="12700" marB="12700" anchor="ctr"/>
                </a:tc>
                <a:tc>
                  <a:txBody>
                    <a:bodyPr/>
                    <a:lstStyle/>
                    <a:p>
                      <a:pPr algn="ctr">
                        <a:buNone/>
                      </a:pPr>
                      <a:r>
                        <a:rPr lang="en-IN" sz="2200" b="0" i="0">
                          <a:solidFill>
                            <a:schemeClr val="bg1"/>
                          </a:solidFill>
                          <a:effectLst/>
                          <a:latin typeface="+mn-lt"/>
                        </a:rPr>
                        <a:t>Milestone</a:t>
                      </a:r>
                    </a:p>
                  </a:txBody>
                  <a:tcPr marL="12700" marR="12700" marT="12700" marB="12700" anchor="ctr"/>
                </a:tc>
                <a:tc>
                  <a:txBody>
                    <a:bodyPr/>
                    <a:lstStyle/>
                    <a:p>
                      <a:pPr algn="ctr">
                        <a:buNone/>
                      </a:pPr>
                      <a:r>
                        <a:rPr lang="en-IN" sz="2200" b="0" i="0" dirty="0">
                          <a:solidFill>
                            <a:schemeClr val="bg1"/>
                          </a:solidFill>
                          <a:effectLst/>
                          <a:latin typeface="+mn-lt"/>
                        </a:rPr>
                        <a:t>Status</a:t>
                      </a:r>
                    </a:p>
                  </a:txBody>
                  <a:tcPr marL="12700" marR="12700" marT="12700" marB="12700" anchor="ctr"/>
                </a:tc>
                <a:extLst>
                  <a:ext uri="{0D108BD9-81ED-4DB2-BD59-A6C34878D82A}">
                    <a16:rowId xmlns:a16="http://schemas.microsoft.com/office/drawing/2014/main" val="2610071373"/>
                  </a:ext>
                </a:extLst>
              </a:tr>
              <a:tr h="1164480">
                <a:tc>
                  <a:txBody>
                    <a:bodyPr/>
                    <a:lstStyle/>
                    <a:p>
                      <a:pPr algn="ctr">
                        <a:buNone/>
                      </a:pPr>
                      <a:r>
                        <a:rPr lang="en-IN" sz="2200" b="0" i="0" dirty="0">
                          <a:solidFill>
                            <a:schemeClr val="tx1"/>
                          </a:solidFill>
                          <a:effectLst/>
                          <a:latin typeface="+mn-lt"/>
                        </a:rPr>
                        <a:t>10</a:t>
                      </a:r>
                    </a:p>
                  </a:txBody>
                  <a:tcPr marL="12700" marR="12700" marT="12700" marB="12700" anchor="ctr"/>
                </a:tc>
                <a:tc>
                  <a:txBody>
                    <a:bodyPr/>
                    <a:lstStyle/>
                    <a:p>
                      <a:pPr algn="ctr">
                        <a:buNone/>
                      </a:pPr>
                      <a:r>
                        <a:rPr lang="en-IN" sz="2200" b="0" i="0">
                          <a:solidFill>
                            <a:schemeClr val="tx1"/>
                          </a:solidFill>
                          <a:effectLst/>
                          <a:latin typeface="+mn-lt"/>
                        </a:rPr>
                        <a:t>Interfaces</a:t>
                      </a:r>
                    </a:p>
                  </a:txBody>
                  <a:tcPr marL="12700" marR="12700" marT="12700" marB="12700" anchor="ctr"/>
                </a:tc>
                <a:tc>
                  <a:txBody>
                    <a:bodyPr/>
                    <a:lstStyle/>
                    <a:p>
                      <a:pPr algn="ctr">
                        <a:buNone/>
                      </a:pPr>
                      <a:r>
                        <a:rPr lang="en-IN" sz="2200" b="0" i="0">
                          <a:solidFill>
                            <a:schemeClr val="tx1"/>
                          </a:solidFill>
                          <a:effectLst/>
                          <a:latin typeface="+mn-lt"/>
                        </a:rPr>
                        <a:t>REST API with token auth, Streamlit answer surface, library and trace views</a:t>
                      </a:r>
                    </a:p>
                  </a:txBody>
                  <a:tcPr marL="12700" marR="12700" marT="12700" marB="12700" anchor="ctr"/>
                </a:tc>
                <a:tc>
                  <a:txBody>
                    <a:bodyPr/>
                    <a:lstStyle/>
                    <a:p>
                      <a:pPr algn="ctr">
                        <a:buNone/>
                      </a:pPr>
                      <a:r>
                        <a:rPr lang="en-IN" sz="2200" b="0" i="0" dirty="0">
                          <a:solidFill>
                            <a:schemeClr val="tx1"/>
                          </a:solidFill>
                          <a:effectLst/>
                          <a:latin typeface="+mn-lt"/>
                        </a:rPr>
                        <a:t>Complete</a:t>
                      </a:r>
                    </a:p>
                  </a:txBody>
                  <a:tcPr marL="12700" marR="12700" marT="12700" marB="12700" anchor="ctr"/>
                </a:tc>
                <a:extLst>
                  <a:ext uri="{0D108BD9-81ED-4DB2-BD59-A6C34878D82A}">
                    <a16:rowId xmlns:a16="http://schemas.microsoft.com/office/drawing/2014/main" val="1310856841"/>
                  </a:ext>
                </a:extLst>
              </a:tr>
              <a:tr h="785880">
                <a:tc>
                  <a:txBody>
                    <a:bodyPr/>
                    <a:lstStyle/>
                    <a:p>
                      <a:pPr algn="ctr">
                        <a:buNone/>
                      </a:pPr>
                      <a:r>
                        <a:rPr lang="en-IN" sz="2200" b="0" i="0" dirty="0">
                          <a:solidFill>
                            <a:schemeClr val="tx1"/>
                          </a:solidFill>
                          <a:effectLst/>
                          <a:latin typeface="+mn-lt"/>
                        </a:rPr>
                        <a:t>11</a:t>
                      </a:r>
                    </a:p>
                  </a:txBody>
                  <a:tcPr marL="12700" marR="12700" marT="12700" marB="12700" anchor="ctr"/>
                </a:tc>
                <a:tc>
                  <a:txBody>
                    <a:bodyPr/>
                    <a:lstStyle/>
                    <a:p>
                      <a:pPr algn="ctr">
                        <a:buNone/>
                      </a:pPr>
                      <a:r>
                        <a:rPr lang="en-IN" sz="2200" b="0" i="0">
                          <a:solidFill>
                            <a:schemeClr val="tx1"/>
                          </a:solidFill>
                          <a:effectLst/>
                          <a:latin typeface="+mn-lt"/>
                        </a:rPr>
                        <a:t>Data quality</a:t>
                      </a:r>
                    </a:p>
                  </a:txBody>
                  <a:tcPr marL="12700" marR="12700" marT="12700" marB="12700" anchor="ctr"/>
                </a:tc>
                <a:tc>
                  <a:txBody>
                    <a:bodyPr/>
                    <a:lstStyle/>
                    <a:p>
                      <a:pPr algn="ctr">
                        <a:buNone/>
                      </a:pPr>
                      <a:r>
                        <a:rPr lang="en-IN" sz="2200" b="0" i="0" dirty="0">
                          <a:solidFill>
                            <a:schemeClr val="tx1"/>
                          </a:solidFill>
                          <a:effectLst/>
                          <a:latin typeface="+mn-lt"/>
                        </a:rPr>
                        <a:t>Glyph normalisation (573 → 0) and content-keyed embedding cache</a:t>
                      </a:r>
                    </a:p>
                  </a:txBody>
                  <a:tcPr marL="12700" marR="12700" marT="12700" marB="12700" anchor="ctr"/>
                </a:tc>
                <a:tc>
                  <a:txBody>
                    <a:bodyPr/>
                    <a:lstStyle/>
                    <a:p>
                      <a:pPr algn="ctr">
                        <a:buNone/>
                      </a:pPr>
                      <a:r>
                        <a:rPr lang="en-US" sz="2200" b="0" i="0" dirty="0">
                          <a:solidFill>
                            <a:schemeClr val="tx1"/>
                          </a:solidFill>
                          <a:effectLst/>
                          <a:latin typeface="+mn-lt"/>
                        </a:rPr>
                        <a:t>C</a:t>
                      </a:r>
                      <a:r>
                        <a:rPr lang="en-IN" sz="2200" b="0" i="0" dirty="0" err="1">
                          <a:solidFill>
                            <a:schemeClr val="tx1"/>
                          </a:solidFill>
                          <a:effectLst/>
                          <a:latin typeface="+mn-lt"/>
                        </a:rPr>
                        <a:t>omplete</a:t>
                      </a:r>
                      <a:endParaRPr lang="en-IN" sz="2200" b="0" i="0" dirty="0">
                        <a:solidFill>
                          <a:schemeClr val="tx1"/>
                        </a:solidFill>
                        <a:effectLst/>
                        <a:latin typeface="+mn-lt"/>
                      </a:endParaRPr>
                    </a:p>
                  </a:txBody>
                  <a:tcPr marL="12700" marR="12700" marT="12700" marB="12700" anchor="ctr"/>
                </a:tc>
                <a:extLst>
                  <a:ext uri="{0D108BD9-81ED-4DB2-BD59-A6C34878D82A}">
                    <a16:rowId xmlns:a16="http://schemas.microsoft.com/office/drawing/2014/main" val="3411269911"/>
                  </a:ext>
                </a:extLst>
              </a:tr>
              <a:tr h="1164480">
                <a:tc>
                  <a:txBody>
                    <a:bodyPr/>
                    <a:lstStyle/>
                    <a:p>
                      <a:pPr algn="ctr">
                        <a:buNone/>
                      </a:pPr>
                      <a:r>
                        <a:rPr lang="en-IN" sz="2200" b="0" i="0" dirty="0">
                          <a:solidFill>
                            <a:schemeClr val="tx1"/>
                          </a:solidFill>
                          <a:effectLst/>
                          <a:latin typeface="+mn-lt"/>
                        </a:rPr>
                        <a:t>12</a:t>
                      </a:r>
                    </a:p>
                  </a:txBody>
                  <a:tcPr marL="12700" marR="12700" marT="12700" marB="12700" anchor="ctr"/>
                </a:tc>
                <a:tc>
                  <a:txBody>
                    <a:bodyPr/>
                    <a:lstStyle/>
                    <a:p>
                      <a:pPr algn="ctr">
                        <a:buNone/>
                      </a:pPr>
                      <a:r>
                        <a:rPr lang="en-IN" sz="2200" b="0" i="0">
                          <a:solidFill>
                            <a:schemeClr val="tx1"/>
                          </a:solidFill>
                          <a:effectLst/>
                          <a:latin typeface="+mn-lt"/>
                        </a:rPr>
                        <a:t>Evaluation</a:t>
                      </a:r>
                    </a:p>
                  </a:txBody>
                  <a:tcPr marL="12700" marR="12700" marT="12700" marB="12700" anchor="ctr"/>
                </a:tc>
                <a:tc>
                  <a:txBody>
                    <a:bodyPr/>
                    <a:lstStyle/>
                    <a:p>
                      <a:pPr algn="ctr">
                        <a:buNone/>
                      </a:pPr>
                      <a:r>
                        <a:rPr lang="en-IN" sz="2200" b="0" i="0" dirty="0">
                          <a:solidFill>
                            <a:schemeClr val="tx1"/>
                          </a:solidFill>
                          <a:effectLst/>
                          <a:latin typeface="+mn-lt"/>
                        </a:rPr>
                        <a:t>Golden question set and </a:t>
                      </a:r>
                      <a:r>
                        <a:rPr lang="en-IN" sz="2200" b="0" i="0" dirty="0" err="1">
                          <a:solidFill>
                            <a:schemeClr val="tx1"/>
                          </a:solidFill>
                          <a:effectLst/>
                          <a:latin typeface="+mn-lt"/>
                        </a:rPr>
                        <a:t>Recall@k</a:t>
                      </a:r>
                      <a:r>
                        <a:rPr lang="en-IN" sz="2200" b="0" i="0" dirty="0">
                          <a:solidFill>
                            <a:schemeClr val="tx1"/>
                          </a:solidFill>
                          <a:effectLst/>
                          <a:latin typeface="+mn-lt"/>
                        </a:rPr>
                        <a:t> / MRR / </a:t>
                      </a:r>
                      <a:r>
                        <a:rPr lang="en-IN" sz="2200" b="0" i="0" dirty="0" err="1">
                          <a:solidFill>
                            <a:schemeClr val="tx1"/>
                          </a:solidFill>
                          <a:effectLst/>
                          <a:latin typeface="+mn-lt"/>
                        </a:rPr>
                        <a:t>nDCG</a:t>
                      </a:r>
                      <a:r>
                        <a:rPr lang="en-IN" sz="2200" b="0" i="0" dirty="0">
                          <a:solidFill>
                            <a:schemeClr val="tx1"/>
                          </a:solidFill>
                          <a:effectLst/>
                          <a:latin typeface="+mn-lt"/>
                        </a:rPr>
                        <a:t> harness</a:t>
                      </a:r>
                    </a:p>
                  </a:txBody>
                  <a:tcPr marL="12700" marR="12700" marT="12700" marB="12700" anchor="ctr"/>
                </a:tc>
                <a:tc>
                  <a:txBody>
                    <a:bodyPr/>
                    <a:lstStyle/>
                    <a:p>
                      <a:pPr algn="ctr">
                        <a:buNone/>
                      </a:pPr>
                      <a:r>
                        <a:rPr lang="en-IN" sz="2200" b="0" i="0">
                          <a:solidFill>
                            <a:schemeClr val="tx1"/>
                          </a:solidFill>
                          <a:effectLst/>
                          <a:latin typeface="+mn-lt"/>
                        </a:rPr>
                        <a:t>Planned</a:t>
                      </a:r>
                    </a:p>
                  </a:txBody>
                  <a:tcPr marL="12700" marR="12700" marT="12700" marB="12700" anchor="ctr"/>
                </a:tc>
                <a:extLst>
                  <a:ext uri="{0D108BD9-81ED-4DB2-BD59-A6C34878D82A}">
                    <a16:rowId xmlns:a16="http://schemas.microsoft.com/office/drawing/2014/main" val="4062700280"/>
                  </a:ext>
                </a:extLst>
              </a:tr>
              <a:tr h="1164480">
                <a:tc>
                  <a:txBody>
                    <a:bodyPr/>
                    <a:lstStyle/>
                    <a:p>
                      <a:pPr algn="ctr">
                        <a:buNone/>
                      </a:pPr>
                      <a:r>
                        <a:rPr lang="en-IN" sz="2200" b="0" i="0" dirty="0">
                          <a:solidFill>
                            <a:schemeClr val="tx1"/>
                          </a:solidFill>
                          <a:effectLst/>
                          <a:latin typeface="+mn-lt"/>
                        </a:rPr>
                        <a:t>13</a:t>
                      </a:r>
                    </a:p>
                  </a:txBody>
                  <a:tcPr marL="12700" marR="12700" marT="12700" marB="12700" anchor="ctr"/>
                </a:tc>
                <a:tc>
                  <a:txBody>
                    <a:bodyPr/>
                    <a:lstStyle/>
                    <a:p>
                      <a:pPr algn="ctr">
                        <a:buNone/>
                      </a:pPr>
                      <a:r>
                        <a:rPr lang="en-IN" sz="2200" b="0" i="0">
                          <a:solidFill>
                            <a:schemeClr val="tx1"/>
                          </a:solidFill>
                          <a:effectLst/>
                          <a:latin typeface="+mn-lt"/>
                        </a:rPr>
                        <a:t>Deployment</a:t>
                      </a:r>
                    </a:p>
                  </a:txBody>
                  <a:tcPr marL="12700" marR="12700" marT="12700" marB="12700" anchor="ctr"/>
                </a:tc>
                <a:tc>
                  <a:txBody>
                    <a:bodyPr/>
                    <a:lstStyle/>
                    <a:p>
                      <a:pPr algn="ctr">
                        <a:buNone/>
                      </a:pPr>
                      <a:r>
                        <a:rPr lang="en-IN" sz="2200" b="0" i="0">
                          <a:solidFill>
                            <a:schemeClr val="tx1"/>
                          </a:solidFill>
                          <a:effectLst/>
                          <a:latin typeface="+mn-lt"/>
                        </a:rPr>
                        <a:t>Containerised API and UI, worker tier, CI image builds</a:t>
                      </a:r>
                    </a:p>
                  </a:txBody>
                  <a:tcPr marL="12700" marR="12700" marT="12700" marB="12700" anchor="ctr"/>
                </a:tc>
                <a:tc>
                  <a:txBody>
                    <a:bodyPr/>
                    <a:lstStyle/>
                    <a:p>
                      <a:pPr algn="ctr">
                        <a:buNone/>
                      </a:pPr>
                      <a:r>
                        <a:rPr lang="en-IN" sz="2200" b="0" i="0" dirty="0">
                          <a:solidFill>
                            <a:schemeClr val="tx1"/>
                          </a:solidFill>
                          <a:effectLst/>
                          <a:latin typeface="+mn-lt"/>
                        </a:rPr>
                        <a:t>Planned</a:t>
                      </a:r>
                    </a:p>
                  </a:txBody>
                  <a:tcPr marL="12700" marR="12700" marT="12700" marB="12700" anchor="ctr"/>
                </a:tc>
                <a:extLst>
                  <a:ext uri="{0D108BD9-81ED-4DB2-BD59-A6C34878D82A}">
                    <a16:rowId xmlns:a16="http://schemas.microsoft.com/office/drawing/2014/main" val="2193130396"/>
                  </a:ext>
                </a:extLst>
              </a:tr>
            </a:tbl>
          </a:graphicData>
        </a:graphic>
      </p:graphicFrame>
    </p:spTree>
    <p:extLst>
      <p:ext uri="{BB962C8B-B14F-4D97-AF65-F5344CB8AC3E}">
        <p14:creationId xmlns:p14="http://schemas.microsoft.com/office/powerpoint/2010/main" val="676471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Pipeline structure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4430487" y="57036"/>
            <a:ext cx="7761514"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pic>
        <p:nvPicPr>
          <p:cNvPr id="9" name="Picture 8">
            <a:extLst>
              <a:ext uri="{FF2B5EF4-FFF2-40B4-BE49-F238E27FC236}">
                <a16:creationId xmlns:a16="http://schemas.microsoft.com/office/drawing/2014/main" id="{5393DCB7-5A48-8A72-F32A-426E8C493D13}"/>
              </a:ext>
            </a:extLst>
          </p:cNvPr>
          <p:cNvPicPr>
            <a:picLocks noChangeAspect="1"/>
          </p:cNvPicPr>
          <p:nvPr/>
        </p:nvPicPr>
        <p:blipFill>
          <a:blip r:embed="rId2"/>
          <a:stretch>
            <a:fillRect/>
          </a:stretch>
        </p:blipFill>
        <p:spPr>
          <a:xfrm>
            <a:off x="1763486" y="1234636"/>
            <a:ext cx="8654143" cy="5253244"/>
          </a:xfrm>
          <a:prstGeom prst="rect">
            <a:avLst/>
          </a:prstGeom>
        </p:spPr>
      </p:pic>
    </p:spTree>
    <p:extLst>
      <p:ext uri="{BB962C8B-B14F-4D97-AF65-F5344CB8AC3E}">
        <p14:creationId xmlns:p14="http://schemas.microsoft.com/office/powerpoint/2010/main" val="2198371957"/>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433</TotalTime>
  <Words>1117</Words>
  <Application>Microsoft Office PowerPoint</Application>
  <PresentationFormat>Widescreen</PresentationFormat>
  <Paragraphs>208</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-apple-system</vt:lpstr>
      <vt:lpstr>Aptos</vt:lpstr>
      <vt:lpstr>Arial</vt:lpstr>
      <vt:lpstr>Calibri</vt:lpstr>
      <vt:lpstr>Calibri (Body)</vt:lpstr>
      <vt:lpstr>Frutiger 45 bold</vt:lpstr>
      <vt:lpstr>Frutiger LT Pro 45 Light</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Dhayanidhi RS</cp:lastModifiedBy>
  <cp:revision>38</cp:revision>
  <dcterms:created xsi:type="dcterms:W3CDTF">2024-05-13T10:33:11Z</dcterms:created>
  <dcterms:modified xsi:type="dcterms:W3CDTF">2026-10-13T08:38:03Z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