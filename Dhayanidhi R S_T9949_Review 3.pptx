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147470504" r:id="rId2"/>
    <p:sldId id="2147470506" r:id="rId3"/>
    <p:sldId id="2147470508" r:id="rId4"/>
    <p:sldId id="2147470509" r:id="rId5"/>
    <p:sldId id="2147470510" r:id="rId6"/>
    <p:sldId id="2147470511" r:id="rId7"/>
    <p:sldId id="2147470522" r:id="rId8"/>
    <p:sldId id="2147470519" r:id="rId9"/>
    <p:sldId id="2147470512" r:id="rId10"/>
    <p:sldId id="2147470513" r:id="rId11"/>
    <p:sldId id="2147470521" r:id="rId12"/>
    <p:sldId id="2147470502" r:id="rId13"/>
    <p:sldId id="2147470503" r:id="rId14"/>
    <p:sldId id="214747052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B9ED"/>
    <a:srgbClr val="FFFFFF"/>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8B2B53-EE83-4EB0-B8FA-6E42468EE333}" type="datetimeFigureOut">
              <a:rPr lang="en-IN" smtClean="0"/>
              <a:t>13-10-2026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145041-4B97-4394-AFDC-A96C4B2AF6D4}" type="slidenum">
              <a:rPr lang="en-IN" smtClean="0"/>
              <a:t>‹#›</a:t>
            </a:fld>
            <a:endParaRPr lang="en-IN"/>
          </a:p>
        </p:txBody>
      </p:sp>
    </p:spTree>
    <p:extLst>
      <p:ext uri="{BB962C8B-B14F-4D97-AF65-F5344CB8AC3E}">
        <p14:creationId xmlns:p14="http://schemas.microsoft.com/office/powerpoint/2010/main" val="1824485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145041-4B97-4394-AFDC-A96C4B2AF6D4}" type="slidenum">
              <a:rPr lang="en-IN" smtClean="0"/>
              <a:t>8</a:t>
            </a:fld>
            <a:endParaRPr lang="en-IN"/>
          </a:p>
        </p:txBody>
      </p:sp>
    </p:spTree>
    <p:extLst>
      <p:ext uri="{BB962C8B-B14F-4D97-AF65-F5344CB8AC3E}">
        <p14:creationId xmlns:p14="http://schemas.microsoft.com/office/powerpoint/2010/main" val="60117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977350" y="42067"/>
            <a:ext cx="6388174"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3162886" y="1090041"/>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377762" y="1211685"/>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5" y="1659822"/>
            <a:ext cx="11815822" cy="60939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lvl="0" algn="ctr">
              <a:defRPr/>
            </a:pPr>
            <a:r>
              <a:rPr lang="en-US" sz="3600" b="1" dirty="0" err="1">
                <a:solidFill>
                  <a:prstClr val="white"/>
                </a:solidFill>
                <a:cs typeface="Calibri" panose="020F0502020204030204" pitchFamily="34" charset="0"/>
              </a:rPr>
              <a:t>FinSight</a:t>
            </a:r>
            <a:r>
              <a:rPr lang="en-US" sz="3600" b="1" dirty="0">
                <a:solidFill>
                  <a:prstClr val="white"/>
                </a:solidFill>
                <a:cs typeface="Calibri" panose="020F0502020204030204" pitchFamily="34" charset="0"/>
              </a:rPr>
              <a:t>: An Evidence-Grounded Financial Filing Analyst powered by Hybrid RAG</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Dhayanidhi R S</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483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21274" y="1271219"/>
            <a:ext cx="11753011" cy="5325520"/>
          </a:xfrm>
        </p:spPr>
        <p:txBody>
          <a:bodyPr/>
          <a:lstStyle/>
          <a:p>
            <a:pPr algn="just" fontAlgn="t">
              <a:lnSpc>
                <a:spcPct val="100000"/>
              </a:lnSpc>
              <a:buNone/>
            </a:pPr>
            <a:r>
              <a:rPr lang="en-IN" sz="2500" dirty="0">
                <a:latin typeface="Calibri (Body)"/>
              </a:rPr>
              <a:t>Background &amp; Problem Statement</a:t>
            </a:r>
          </a:p>
          <a:p>
            <a:pPr algn="just" fontAlgn="t">
              <a:lnSpc>
                <a:spcPct val="100000"/>
              </a:lnSpc>
              <a:buNone/>
            </a:pPr>
            <a:r>
              <a:rPr lang="en-IN" sz="2500" b="0" dirty="0">
                <a:latin typeface="Calibri (Body)"/>
              </a:rPr>
              <a:t>	</a:t>
            </a:r>
            <a:r>
              <a:rPr lang="en-IN" sz="2500" b="0" dirty="0">
                <a:solidFill>
                  <a:schemeClr val="tx1"/>
                </a:solidFill>
              </a:rPr>
              <a:t>Company financial filings contain valuable information across lengthy narratives, complex tables, financial statements, and notes. Analysts must manually search, interpret, compare, and verify this information.</a:t>
            </a:r>
            <a:endParaRPr lang="en-IN" sz="2500" b="0" dirty="0">
              <a:solidFill>
                <a:schemeClr val="tx1"/>
              </a:solidFill>
              <a:latin typeface="Calibri (Body)"/>
            </a:endParaRPr>
          </a:p>
          <a:p>
            <a:pPr algn="just" fontAlgn="t">
              <a:lnSpc>
                <a:spcPct val="100000"/>
              </a:lnSpc>
              <a:buNone/>
            </a:pPr>
            <a:r>
              <a:rPr lang="en-IN" sz="2500" b="0" dirty="0">
                <a:solidFill>
                  <a:schemeClr val="tx1"/>
                </a:solidFill>
                <a:latin typeface="Calibri (Body)"/>
              </a:rPr>
              <a:t>	Generic document-question-answering systems may: </a:t>
            </a:r>
          </a:p>
          <a:p>
            <a:pPr lvl="2" algn="just" fontAlgn="t">
              <a:lnSpc>
                <a:spcPct val="100000"/>
              </a:lnSpc>
            </a:pPr>
            <a:r>
              <a:rPr lang="en-IN" sz="2500" b="0" dirty="0">
                <a:solidFill>
                  <a:schemeClr val="tx1"/>
                </a:solidFill>
                <a:latin typeface="Calibri (Body)"/>
              </a:rPr>
              <a:t>confuse fiscal periods, currencies, or presentation units.</a:t>
            </a:r>
          </a:p>
          <a:p>
            <a:pPr lvl="2" algn="just" fontAlgn="t">
              <a:lnSpc>
                <a:spcPct val="100000"/>
              </a:lnSpc>
            </a:pPr>
            <a:r>
              <a:rPr lang="en-IN" sz="2500" b="0" dirty="0">
                <a:solidFill>
                  <a:schemeClr val="tx1"/>
                </a:solidFill>
                <a:latin typeface="Calibri (Body)"/>
              </a:rPr>
              <a:t>provide answers without precise source evidence.</a:t>
            </a:r>
          </a:p>
          <a:p>
            <a:pPr algn="just" fontAlgn="t">
              <a:lnSpc>
                <a:spcPct val="100000"/>
              </a:lnSpc>
              <a:buNone/>
            </a:pPr>
            <a:r>
              <a:rPr lang="en-IN" sz="2500" dirty="0">
                <a:latin typeface="Calibri (Body)"/>
              </a:rPr>
              <a:t>Proposed System</a:t>
            </a:r>
          </a:p>
          <a:p>
            <a:pPr algn="just" fontAlgn="t">
              <a:lnSpc>
                <a:spcPct val="100000"/>
              </a:lnSpc>
              <a:buNone/>
            </a:pPr>
            <a:r>
              <a:rPr lang="en-IN" sz="2500" dirty="0">
                <a:latin typeface="Calibri (Body)"/>
              </a:rPr>
              <a:t>	</a:t>
            </a:r>
            <a:r>
              <a:rPr lang="en-IN" sz="2500" dirty="0">
                <a:solidFill>
                  <a:schemeClr val="tx1"/>
                </a:solidFill>
              </a:rPr>
              <a:t>FinSight</a:t>
            </a:r>
            <a:r>
              <a:rPr lang="en-IN" sz="2500" b="0" dirty="0">
                <a:solidFill>
                  <a:schemeClr val="tx1"/>
                </a:solidFill>
              </a:rPr>
              <a:t> combines full-document Hybrid RAG with a structured Financial Fact Ledger to:</a:t>
            </a:r>
          </a:p>
          <a:p>
            <a:pPr marL="1257300" lvl="2" indent="-342900" algn="just" fontAlgn="t">
              <a:lnSpc>
                <a:spcPct val="100000"/>
              </a:lnSpc>
            </a:pPr>
            <a:r>
              <a:rPr lang="en-IN" sz="2500" b="0" dirty="0">
                <a:solidFill>
                  <a:schemeClr val="tx1"/>
                </a:solidFill>
              </a:rPr>
              <a:t>answer natural-language queries and comparisons.</a:t>
            </a:r>
          </a:p>
          <a:p>
            <a:pPr marL="1257300" lvl="2" indent="-342900" algn="just" fontAlgn="t">
              <a:lnSpc>
                <a:spcPct val="100000"/>
              </a:lnSpc>
            </a:pPr>
            <a:r>
              <a:rPr lang="en-IN" sz="2500" b="0" dirty="0">
                <a:solidFill>
                  <a:schemeClr val="tx1"/>
                </a:solidFill>
              </a:rPr>
              <a:t>provide evidence-grounded answers with traceable citations.</a:t>
            </a:r>
          </a:p>
          <a:p>
            <a:pPr algn="just" fontAlgn="t">
              <a:lnSpc>
                <a:spcPct val="100000"/>
              </a:lnSpc>
              <a:buNone/>
            </a:pPr>
            <a:endParaRPr lang="en-US" sz="2500" b="0" dirty="0">
              <a:solidFill>
                <a:srgbClr val="5583D1"/>
              </a:solidFill>
              <a:latin typeface="Calibri (Body)"/>
            </a:endParaRPr>
          </a:p>
          <a:p>
            <a:pPr marL="0" indent="0" algn="just">
              <a:lnSpc>
                <a:spcPct val="100000"/>
              </a:lnSpc>
              <a:buNone/>
            </a:pPr>
            <a:endParaRPr lang="en-US" sz="2500" b="0" dirty="0">
              <a:solidFill>
                <a:srgbClr val="5583D1"/>
              </a:solidFill>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err="1">
                <a:ln>
                  <a:noFill/>
                </a:ln>
                <a:solidFill>
                  <a:srgbClr val="5B9BD5">
                    <a:lumMod val="50000"/>
                  </a:srgbClr>
                </a:solidFill>
                <a:effectLst/>
                <a:uLnTx/>
                <a:uFillTx/>
                <a:latin typeface="Calibri" panose="020F0502020204030204"/>
                <a:ea typeface="+mn-ea"/>
                <a:cs typeface="+mn-cs"/>
              </a:rPr>
              <a:t>Introductio</a:t>
            </a:r>
            <a:r>
              <a:rPr lang="en-US" sz="3600" b="1" dirty="0">
                <a:solidFill>
                  <a:srgbClr val="5B9BD5">
                    <a:lumMod val="50000"/>
                  </a:srgbClr>
                </a:solidFill>
                <a:latin typeface="Calibri" panose="020F0502020204030204"/>
              </a:rPr>
              <a:t>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4419600" y="0"/>
            <a:ext cx="7772401"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1931322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97A0E-978F-77C5-C52D-D5CCB9B122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DB9C926-C57D-BB32-05A5-B4AEDD8D6FD9}"/>
              </a:ext>
            </a:extLst>
          </p:cNvPr>
          <p:cNvSpPr>
            <a:spLocks noGrp="1"/>
          </p:cNvSpPr>
          <p:nvPr>
            <p:ph type="body" sz="quarter" idx="13"/>
          </p:nvPr>
        </p:nvSpPr>
        <p:spPr>
          <a:xfrm>
            <a:off x="255996" y="1271219"/>
            <a:ext cx="11631204" cy="5358177"/>
          </a:xfrm>
        </p:spPr>
        <p:txBody>
          <a:bodyPr/>
          <a:lstStyle/>
          <a:p>
            <a:pPr lvl="0">
              <a:lnSpc>
                <a:spcPct val="100000"/>
              </a:lnSpc>
              <a:buFont typeface="Wingdings" panose="05000000000000000000" pitchFamily="2" charset="2"/>
              <a:buChar char="Ø"/>
            </a:pPr>
            <a:r>
              <a:rPr lang="en-IN" sz="2600" dirty="0">
                <a:solidFill>
                  <a:schemeClr val="tx1"/>
                </a:solidFill>
                <a:latin typeface="+mn-lt"/>
              </a:rPr>
              <a:t>Preserve</a:t>
            </a:r>
            <a:r>
              <a:rPr lang="en-IN" sz="2600" b="0" dirty="0">
                <a:solidFill>
                  <a:schemeClr val="tx1"/>
                </a:solidFill>
                <a:latin typeface="+mn-lt"/>
              </a:rPr>
              <a:t> every filing byte-for-byte with verifiable identity, and keep the original immutable</a:t>
            </a:r>
          </a:p>
          <a:p>
            <a:pPr lvl="0">
              <a:lnSpc>
                <a:spcPct val="100000"/>
              </a:lnSpc>
              <a:buFont typeface="Wingdings" panose="05000000000000000000" pitchFamily="2" charset="2"/>
              <a:buChar char="Ø"/>
            </a:pPr>
            <a:r>
              <a:rPr lang="en-IN" sz="2600" dirty="0">
                <a:solidFill>
                  <a:schemeClr val="tx1"/>
                </a:solidFill>
                <a:latin typeface="+mn-lt"/>
              </a:rPr>
              <a:t>Extract</a:t>
            </a:r>
            <a:r>
              <a:rPr lang="en-IN" sz="2600" b="0" dirty="0">
                <a:solidFill>
                  <a:schemeClr val="tx1"/>
                </a:solidFill>
                <a:latin typeface="+mn-lt"/>
              </a:rPr>
              <a:t> a citable source representation — pages, blocks, tables and footnotes with exact coordinates</a:t>
            </a:r>
          </a:p>
          <a:p>
            <a:pPr lvl="0">
              <a:lnSpc>
                <a:spcPct val="100000"/>
              </a:lnSpc>
              <a:buFont typeface="Wingdings" panose="05000000000000000000" pitchFamily="2" charset="2"/>
              <a:buChar char="Ø"/>
            </a:pPr>
            <a:r>
              <a:rPr lang="en-IN" sz="2600" dirty="0">
                <a:solidFill>
                  <a:schemeClr val="tx1"/>
                </a:solidFill>
                <a:latin typeface="+mn-lt"/>
              </a:rPr>
              <a:t>Retrieve</a:t>
            </a:r>
            <a:r>
              <a:rPr lang="en-IN" sz="2600" b="0" dirty="0">
                <a:solidFill>
                  <a:schemeClr val="tx1"/>
                </a:solidFill>
                <a:latin typeface="+mn-lt"/>
              </a:rPr>
              <a:t> passages by both wording and meaning, under scope filters that similarity cannot override</a:t>
            </a:r>
          </a:p>
          <a:p>
            <a:pPr lvl="0">
              <a:lnSpc>
                <a:spcPct val="100000"/>
              </a:lnSpc>
              <a:buFont typeface="Wingdings" panose="05000000000000000000" pitchFamily="2" charset="2"/>
              <a:buChar char="Ø"/>
            </a:pPr>
            <a:r>
              <a:rPr lang="en-IN" sz="2600" dirty="0">
                <a:solidFill>
                  <a:schemeClr val="tx1"/>
                </a:solidFill>
                <a:latin typeface="+mn-lt"/>
              </a:rPr>
              <a:t>Generate</a:t>
            </a:r>
            <a:r>
              <a:rPr lang="en-IN" sz="2600" b="0" dirty="0">
                <a:solidFill>
                  <a:schemeClr val="tx1"/>
                </a:solidFill>
                <a:latin typeface="+mn-lt"/>
              </a:rPr>
              <a:t> answers in which every claim cites the stored source span it rests on</a:t>
            </a:r>
          </a:p>
          <a:p>
            <a:pPr lvl="0">
              <a:lnSpc>
                <a:spcPct val="100000"/>
              </a:lnSpc>
              <a:buFont typeface="Wingdings" panose="05000000000000000000" pitchFamily="2" charset="2"/>
              <a:buChar char="Ø"/>
            </a:pPr>
            <a:r>
              <a:rPr lang="en-IN" sz="2600" dirty="0">
                <a:solidFill>
                  <a:schemeClr val="tx1"/>
                </a:solidFill>
                <a:latin typeface="+mn-lt"/>
              </a:rPr>
              <a:t>Verify</a:t>
            </a:r>
            <a:r>
              <a:rPr lang="en-IN" sz="2600" b="0" dirty="0">
                <a:solidFill>
                  <a:schemeClr val="tx1"/>
                </a:solidFill>
                <a:latin typeface="+mn-lt"/>
              </a:rPr>
              <a:t> every numeral against the span its own claim cites, and remove any claim that fails</a:t>
            </a:r>
          </a:p>
          <a:p>
            <a:pPr lvl="0">
              <a:lnSpc>
                <a:spcPct val="100000"/>
              </a:lnSpc>
              <a:buFont typeface="Wingdings" panose="05000000000000000000" pitchFamily="2" charset="2"/>
              <a:buChar char="Ø"/>
            </a:pPr>
            <a:r>
              <a:rPr lang="en-IN" sz="2600" dirty="0">
                <a:solidFill>
                  <a:schemeClr val="tx1"/>
                </a:solidFill>
                <a:latin typeface="+mn-lt"/>
              </a:rPr>
              <a:t>Record</a:t>
            </a:r>
            <a:r>
              <a:rPr lang="en-IN" sz="2600" b="0" dirty="0">
                <a:solidFill>
                  <a:schemeClr val="tx1"/>
                </a:solidFill>
                <a:latin typeface="+mn-lt"/>
              </a:rPr>
              <a:t> every answer, decision and reason for audit.</a:t>
            </a:r>
          </a:p>
        </p:txBody>
      </p:sp>
      <p:sp>
        <p:nvSpPr>
          <p:cNvPr id="3" name="TextBox 2">
            <a:extLst>
              <a:ext uri="{FF2B5EF4-FFF2-40B4-BE49-F238E27FC236}">
                <a16:creationId xmlns:a16="http://schemas.microsoft.com/office/drawing/2014/main" id="{A3553E4E-352D-57A1-1647-A436C7B949C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Objectives</a:t>
            </a:r>
          </a:p>
        </p:txBody>
      </p:sp>
      <p:cxnSp>
        <p:nvCxnSpPr>
          <p:cNvPr id="5" name="Straight Connector 4">
            <a:extLst>
              <a:ext uri="{FF2B5EF4-FFF2-40B4-BE49-F238E27FC236}">
                <a16:creationId xmlns:a16="http://schemas.microsoft.com/office/drawing/2014/main" id="{8B5FB60F-7AAA-2378-6E76-2861C642BB8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423F60-2CFD-E343-F6DC-C0957453B8DD}"/>
              </a:ext>
            </a:extLst>
          </p:cNvPr>
          <p:cNvSpPr txBox="1"/>
          <p:nvPr/>
        </p:nvSpPr>
        <p:spPr>
          <a:xfrm>
            <a:off x="4376057" y="57036"/>
            <a:ext cx="7815943"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3027957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08C89-ECE9-F339-BF0B-B99093C4CEF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DE85F1C-697B-7F71-CA16-D43B26590D19}"/>
              </a:ext>
            </a:extLst>
          </p:cNvPr>
          <p:cNvSpPr>
            <a:spLocks noGrp="1"/>
          </p:cNvSpPr>
          <p:nvPr>
            <p:ph type="body" sz="quarter" idx="13"/>
          </p:nvPr>
        </p:nvSpPr>
        <p:spPr>
          <a:xfrm>
            <a:off x="255996" y="1271219"/>
            <a:ext cx="11631204" cy="5347291"/>
          </a:xfrm>
        </p:spPr>
        <p:txBody>
          <a:bodyPr/>
          <a:lstStyle/>
          <a:p>
            <a:pPr marL="0" indent="0">
              <a:buNone/>
            </a:pPr>
            <a:r>
              <a:rPr lang="en-IN" sz="2400" dirty="0">
                <a:latin typeface="+mn-lt"/>
              </a:rPr>
              <a:t>Intake &amp; Storage:</a:t>
            </a:r>
            <a:r>
              <a:rPr lang="en-IN" sz="2400" b="0" dirty="0">
                <a:latin typeface="+mn-lt"/>
              </a:rPr>
              <a:t> </a:t>
            </a:r>
            <a:r>
              <a:rPr lang="en-IN" sz="2400" b="0" dirty="0">
                <a:solidFill>
                  <a:schemeClr val="tx1"/>
                </a:solidFill>
                <a:latin typeface="+mn-lt"/>
              </a:rPr>
              <a:t>Validates untrusted uploads; stores originals content-addressed and immutable.</a:t>
            </a:r>
          </a:p>
          <a:p>
            <a:pPr marL="0" indent="0">
              <a:buNone/>
            </a:pPr>
            <a:r>
              <a:rPr lang="en-IN" sz="2400" dirty="0">
                <a:latin typeface="+mn-lt"/>
              </a:rPr>
              <a:t>Extraction:</a:t>
            </a:r>
            <a:r>
              <a:rPr lang="en-IN" sz="2400" b="0" dirty="0">
                <a:latin typeface="+mn-lt"/>
              </a:rPr>
              <a:t> </a:t>
            </a:r>
            <a:r>
              <a:rPr lang="en-IN" sz="2400" b="0" dirty="0">
                <a:solidFill>
                  <a:schemeClr val="tx1"/>
                </a:solidFill>
                <a:latin typeface="+mn-lt"/>
              </a:rPr>
              <a:t>PyMuPDF and Docling produce pages, blocks, tables, cells and footnotes with page coordinates.</a:t>
            </a:r>
          </a:p>
          <a:p>
            <a:pPr marL="0" indent="0">
              <a:buNone/>
            </a:pPr>
            <a:r>
              <a:rPr lang="en-IN" sz="2400" dirty="0">
                <a:latin typeface="+mn-lt"/>
              </a:rPr>
              <a:t>Chunking:</a:t>
            </a:r>
            <a:r>
              <a:rPr lang="en-IN" sz="2400" b="0" dirty="0">
                <a:latin typeface="+mn-lt"/>
              </a:rPr>
              <a:t> </a:t>
            </a:r>
            <a:r>
              <a:rPr lang="en-IN" sz="2400" b="0" dirty="0">
                <a:solidFill>
                  <a:schemeClr val="tx1"/>
                </a:solidFill>
                <a:latin typeface="+mn-lt"/>
              </a:rPr>
              <a:t>Structure-aware splitting into focused child passages and broader parent passages.</a:t>
            </a:r>
          </a:p>
          <a:p>
            <a:pPr marL="0" indent="0">
              <a:buNone/>
            </a:pPr>
            <a:r>
              <a:rPr lang="en-IN" sz="2400" dirty="0">
                <a:latin typeface="+mn-lt"/>
              </a:rPr>
              <a:t>Indexing:</a:t>
            </a:r>
            <a:r>
              <a:rPr lang="en-IN" sz="2400" b="0" dirty="0">
                <a:latin typeface="+mn-lt"/>
              </a:rPr>
              <a:t> </a:t>
            </a:r>
            <a:r>
              <a:rPr lang="en-IN" sz="2400" b="0" dirty="0">
                <a:solidFill>
                  <a:schemeClr val="tx1"/>
                </a:solidFill>
                <a:latin typeface="+mn-lt"/>
              </a:rPr>
              <a:t>Local embeddings and BM25 term weights written to Qdrant through a transactional outbox.</a:t>
            </a:r>
          </a:p>
          <a:p>
            <a:pPr marL="0" indent="0">
              <a:buNone/>
            </a:pPr>
            <a:r>
              <a:rPr lang="en-IN" sz="2400" dirty="0">
                <a:latin typeface="+mn-lt"/>
              </a:rPr>
              <a:t>Retrieval:</a:t>
            </a:r>
            <a:r>
              <a:rPr lang="en-IN" sz="2400" b="0" dirty="0">
                <a:latin typeface="+mn-lt"/>
              </a:rPr>
              <a:t> </a:t>
            </a:r>
            <a:r>
              <a:rPr lang="en-IN" sz="2400" b="0" dirty="0">
                <a:solidFill>
                  <a:schemeClr val="tx1"/>
                </a:solidFill>
                <a:latin typeface="+mn-lt"/>
              </a:rPr>
              <a:t>Keyword and dense search under hard filters, fused by reciprocal rank, reordered by a cross-encoder.</a:t>
            </a:r>
          </a:p>
          <a:p>
            <a:pPr marL="0" indent="0">
              <a:buNone/>
            </a:pPr>
            <a:r>
              <a:rPr lang="en-IN" sz="2400" dirty="0">
                <a:latin typeface="+mn-lt"/>
              </a:rPr>
              <a:t>Generation:</a:t>
            </a:r>
            <a:r>
              <a:rPr lang="en-IN" sz="2400" b="0" dirty="0">
                <a:latin typeface="+mn-lt"/>
              </a:rPr>
              <a:t> </a:t>
            </a:r>
            <a:r>
              <a:rPr lang="en-IN" sz="2400" b="0" dirty="0">
                <a:solidFill>
                  <a:schemeClr val="tx1"/>
                </a:solidFill>
                <a:latin typeface="+mn-lt"/>
              </a:rPr>
              <a:t>Schema-constrained model, citation resolution, Evidence Gate, one recorded decision per answer.</a:t>
            </a:r>
          </a:p>
          <a:p>
            <a:pPr marL="0" indent="0">
              <a:buNone/>
            </a:pPr>
            <a:r>
              <a:rPr lang="en-IN" sz="2400" dirty="0">
                <a:latin typeface="+mn-lt"/>
              </a:rPr>
              <a:t>Surfaces:</a:t>
            </a:r>
            <a:r>
              <a:rPr lang="en-IN" sz="2400" b="0" dirty="0">
                <a:latin typeface="+mn-lt"/>
              </a:rPr>
              <a:t> </a:t>
            </a:r>
            <a:r>
              <a:rPr lang="en-IN" sz="2400" b="0" dirty="0">
                <a:solidFill>
                  <a:schemeClr val="tx1"/>
                </a:solidFill>
                <a:latin typeface="+mn-lt"/>
              </a:rPr>
              <a:t>Authenticated REST API, Streamlit interface, operator command line.</a:t>
            </a:r>
          </a:p>
        </p:txBody>
      </p:sp>
      <p:sp>
        <p:nvSpPr>
          <p:cNvPr id="3" name="TextBox 2">
            <a:extLst>
              <a:ext uri="{FF2B5EF4-FFF2-40B4-BE49-F238E27FC236}">
                <a16:creationId xmlns:a16="http://schemas.microsoft.com/office/drawing/2014/main" id="{0778555C-031C-F334-F765-331B82EAF7CD}"/>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539005A2-44D2-4216-2A24-01A73DCD41C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68D51A7-571E-5C64-FB7D-7BE09D38FBD9}"/>
              </a:ext>
            </a:extLst>
          </p:cNvPr>
          <p:cNvSpPr txBox="1"/>
          <p:nvPr/>
        </p:nvSpPr>
        <p:spPr>
          <a:xfrm>
            <a:off x="4430487" y="57036"/>
            <a:ext cx="7761514"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296591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ADEF0-FA05-1266-55F2-01A1B736FB6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90B4FAC-B96B-0368-7778-8CB7934032D5}"/>
              </a:ext>
            </a:extLst>
          </p:cNvPr>
          <p:cNvSpPr>
            <a:spLocks noGrp="1"/>
          </p:cNvSpPr>
          <p:nvPr>
            <p:ph type="body" sz="quarter" idx="13"/>
          </p:nvPr>
        </p:nvSpPr>
        <p:spPr>
          <a:xfrm>
            <a:off x="255995" y="1271219"/>
            <a:ext cx="11631205" cy="5303752"/>
          </a:xfrm>
        </p:spPr>
        <p:txBody>
          <a:bodyPr/>
          <a:lstStyle/>
          <a:p>
            <a:pPr>
              <a:lnSpc>
                <a:spcPct val="150000"/>
              </a:lnSpc>
            </a:pPr>
            <a:r>
              <a:rPr lang="en-IN" b="0" dirty="0">
                <a:solidFill>
                  <a:schemeClr val="tx1"/>
                </a:solidFill>
                <a:latin typeface="+mn-lt"/>
              </a:rPr>
              <a:t>A language model will state a figure that is not in the document. </a:t>
            </a:r>
          </a:p>
          <a:p>
            <a:pPr>
              <a:lnSpc>
                <a:spcPct val="150000"/>
              </a:lnSpc>
            </a:pPr>
            <a:r>
              <a:rPr lang="en-IN" b="0" dirty="0">
                <a:solidFill>
                  <a:schemeClr val="tx1"/>
                </a:solidFill>
                <a:latin typeface="+mn-lt"/>
              </a:rPr>
              <a:t>Generated text is not checkable. </a:t>
            </a:r>
          </a:p>
          <a:p>
            <a:pPr>
              <a:lnSpc>
                <a:spcPct val="150000"/>
              </a:lnSpc>
            </a:pPr>
            <a:r>
              <a:rPr lang="en-IN" b="0" dirty="0">
                <a:solidFill>
                  <a:schemeClr val="tx1"/>
                </a:solidFill>
                <a:latin typeface="+mn-lt"/>
              </a:rPr>
              <a:t>Filings are untrusted input.</a:t>
            </a:r>
          </a:p>
          <a:p>
            <a:pPr>
              <a:lnSpc>
                <a:spcPct val="150000"/>
              </a:lnSpc>
            </a:pPr>
            <a:r>
              <a:rPr lang="en-IN" b="0" dirty="0">
                <a:solidFill>
                  <a:schemeClr val="tx1"/>
                </a:solidFill>
                <a:latin typeface="+mn-lt"/>
              </a:rPr>
              <a:t>Scope cannot be left to similarity. </a:t>
            </a:r>
          </a:p>
          <a:p>
            <a:pPr>
              <a:lnSpc>
                <a:spcPct val="150000"/>
              </a:lnSpc>
            </a:pPr>
            <a:r>
              <a:rPr lang="en-IN" b="0" dirty="0">
                <a:solidFill>
                  <a:schemeClr val="tx1"/>
                </a:solidFill>
                <a:latin typeface="+mn-lt"/>
              </a:rPr>
              <a:t>Arithmetic is not a language task.</a:t>
            </a:r>
          </a:p>
        </p:txBody>
      </p:sp>
      <p:sp>
        <p:nvSpPr>
          <p:cNvPr id="3" name="TextBox 2">
            <a:extLst>
              <a:ext uri="{FF2B5EF4-FFF2-40B4-BE49-F238E27FC236}">
                <a16:creationId xmlns:a16="http://schemas.microsoft.com/office/drawing/2014/main" id="{056D7D8F-00F5-15F4-F1B9-BA32F7FD099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DED70626-10E0-B4CA-93E1-FCE1E549187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F3448EF-F2CC-1A26-AD03-CB73666CCB5E}"/>
              </a:ext>
            </a:extLst>
          </p:cNvPr>
          <p:cNvSpPr txBox="1"/>
          <p:nvPr/>
        </p:nvSpPr>
        <p:spPr>
          <a:xfrm>
            <a:off x="4397829" y="57036"/>
            <a:ext cx="7794171"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1252024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13E22-DD54-C7AF-A577-E58B7BBF1A3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0E7648E-38A0-C198-2EE7-61A8060DF0EA}"/>
              </a:ext>
            </a:extLst>
          </p:cNvPr>
          <p:cNvSpPr>
            <a:spLocks noGrp="1"/>
          </p:cNvSpPr>
          <p:nvPr>
            <p:ph type="body" sz="quarter" idx="13"/>
          </p:nvPr>
        </p:nvSpPr>
        <p:spPr>
          <a:xfrm>
            <a:off x="255996" y="1271219"/>
            <a:ext cx="11642090" cy="5390833"/>
          </a:xfrm>
        </p:spPr>
        <p:txBody>
          <a:bodyPr/>
          <a:lstStyle/>
          <a:p>
            <a:pPr marL="457200" indent="-457200" algn="just">
              <a:lnSpc>
                <a:spcPct val="100000"/>
              </a:lnSpc>
              <a:buFont typeface="+mj-lt"/>
              <a:buAutoNum type="arabicPeriod"/>
            </a:pPr>
            <a:r>
              <a:rPr lang="en-IN" sz="2300" dirty="0">
                <a:solidFill>
                  <a:schemeClr val="tx1"/>
                </a:solidFill>
                <a:latin typeface="+mn-lt"/>
              </a:rPr>
              <a:t>Prepare the corpus</a:t>
            </a:r>
            <a:r>
              <a:rPr lang="en-IN" sz="2300" b="0" dirty="0">
                <a:solidFill>
                  <a:schemeClr val="tx1"/>
                </a:solidFill>
                <a:latin typeface="+mn-lt"/>
              </a:rPr>
              <a:t> </a:t>
            </a:r>
            <a:r>
              <a:rPr lang="en-IN" sz="2300" b="0" i="1" dirty="0">
                <a:solidFill>
                  <a:schemeClr val="tx1"/>
                </a:solidFill>
                <a:latin typeface="+mn-lt"/>
              </a:rPr>
              <a:t>(once per filing)</a:t>
            </a:r>
            <a:r>
              <a:rPr lang="en-IN" sz="2300" b="0" dirty="0">
                <a:solidFill>
                  <a:schemeClr val="tx1"/>
                </a:solidFill>
                <a:latin typeface="+mn-lt"/>
              </a:rPr>
              <a:t> Validate the file, preserve the original immutably, extract pages, blocks, tables and footnotes with coordinates, split into child units for matching and parent units for context, then index as dense vectors and BM25 term weights.</a:t>
            </a:r>
          </a:p>
          <a:p>
            <a:pPr marL="457200" indent="-457200" algn="just">
              <a:lnSpc>
                <a:spcPct val="100000"/>
              </a:lnSpc>
              <a:buFont typeface="+mj-lt"/>
              <a:buAutoNum type="arabicPeriod"/>
            </a:pPr>
            <a:r>
              <a:rPr lang="en-IN" sz="2300" dirty="0">
                <a:solidFill>
                  <a:schemeClr val="tx1"/>
                </a:solidFill>
                <a:latin typeface="+mn-lt"/>
              </a:rPr>
              <a:t>Retrieve</a:t>
            </a:r>
            <a:r>
              <a:rPr lang="en-IN" sz="2300" b="0" dirty="0">
                <a:solidFill>
                  <a:schemeClr val="tx1"/>
                </a:solidFill>
                <a:latin typeface="+mn-lt"/>
              </a:rPr>
              <a:t> </a:t>
            </a:r>
            <a:r>
              <a:rPr lang="en-IN" sz="2300" b="0" i="1" dirty="0">
                <a:solidFill>
                  <a:schemeClr val="tx1"/>
                </a:solidFill>
                <a:latin typeface="+mn-lt"/>
              </a:rPr>
              <a:t>(per question)</a:t>
            </a:r>
            <a:r>
              <a:rPr lang="en-IN" sz="2300" b="0" dirty="0">
                <a:solidFill>
                  <a:schemeClr val="tx1"/>
                </a:solidFill>
                <a:latin typeface="+mn-lt"/>
              </a:rPr>
              <a:t> Keyword and meaning search run together under hard scope filters, combined by reciprocal rank fusion, reordered by a cross-encoder, and de-duplicated so the same evidence is not counted twice.</a:t>
            </a:r>
          </a:p>
          <a:p>
            <a:pPr marL="457200" indent="-457200" algn="just">
              <a:lnSpc>
                <a:spcPct val="100000"/>
              </a:lnSpc>
              <a:buFont typeface="+mj-lt"/>
              <a:buAutoNum type="arabicPeriod"/>
            </a:pPr>
            <a:r>
              <a:rPr lang="en-IN" sz="2300" dirty="0">
                <a:solidFill>
                  <a:schemeClr val="tx1"/>
                </a:solidFill>
                <a:latin typeface="+mn-lt"/>
              </a:rPr>
              <a:t>Generate under constraint</a:t>
            </a:r>
            <a:r>
              <a:rPr lang="en-IN" sz="2300" b="0" dirty="0">
                <a:solidFill>
                  <a:schemeClr val="tx1"/>
                </a:solidFill>
                <a:latin typeface="+mn-lt"/>
              </a:rPr>
              <a:t> The model receives only the selected passages, labelled [1] [2] [3], and must reply in a fixed structure: claims plus the labels each claim rests on. It is instructed not to calculate, and permitted to say the passages do not answer.</a:t>
            </a:r>
          </a:p>
          <a:p>
            <a:pPr marL="457200" indent="-457200" algn="just">
              <a:lnSpc>
                <a:spcPct val="100000"/>
              </a:lnSpc>
              <a:buFont typeface="+mj-lt"/>
              <a:buAutoNum type="arabicPeriod"/>
            </a:pPr>
            <a:r>
              <a:rPr lang="en-IN" sz="2300" dirty="0">
                <a:solidFill>
                  <a:schemeClr val="tx1"/>
                </a:solidFill>
                <a:latin typeface="+mn-lt"/>
              </a:rPr>
              <a:t>Verify before release</a:t>
            </a:r>
            <a:r>
              <a:rPr lang="en-IN" sz="2300" b="0" dirty="0">
                <a:solidFill>
                  <a:schemeClr val="tx1"/>
                </a:solidFill>
                <a:latin typeface="+mn-lt"/>
              </a:rPr>
              <a:t> Code resolves every label back to the stored source text and checks that each figure, scale word and currency in a claim actually appears there. A claim that fails is removed; if nothing survives, the system abstains. Every answer is recorded with its decision and reasons.</a:t>
            </a:r>
          </a:p>
          <a:p>
            <a:pPr marL="0" indent="0" algn="just">
              <a:lnSpc>
                <a:spcPct val="100000"/>
              </a:lnSpc>
              <a:buNone/>
            </a:pPr>
            <a:endParaRPr lang="en-US" sz="2300" b="0" dirty="0">
              <a:solidFill>
                <a:schemeClr val="tx1"/>
              </a:solidFill>
              <a:latin typeface="+mn-lt"/>
            </a:endParaRPr>
          </a:p>
        </p:txBody>
      </p:sp>
      <p:sp>
        <p:nvSpPr>
          <p:cNvPr id="3" name="TextBox 2">
            <a:extLst>
              <a:ext uri="{FF2B5EF4-FFF2-40B4-BE49-F238E27FC236}">
                <a16:creationId xmlns:a16="http://schemas.microsoft.com/office/drawing/2014/main" id="{546BF29B-FB39-9117-1A68-62DD7BF587E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846E2998-476C-4D8F-9AC4-C7A9B3D63F1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30C694A-4381-E53D-F926-05E4809C320C}"/>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2991201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0CB13-4B3B-296F-881F-26C51AA844F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7D4576-7087-AA0C-DE8D-2559F8A68EE1}"/>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pic>
        <p:nvPicPr>
          <p:cNvPr id="9" name="Picture 8">
            <a:extLst>
              <a:ext uri="{FF2B5EF4-FFF2-40B4-BE49-F238E27FC236}">
                <a16:creationId xmlns:a16="http://schemas.microsoft.com/office/drawing/2014/main" id="{9BD8D704-4FD2-3AAD-5361-725FF945C070}"/>
              </a:ext>
            </a:extLst>
          </p:cNvPr>
          <p:cNvPicPr>
            <a:picLocks noChangeAspect="1"/>
          </p:cNvPicPr>
          <p:nvPr/>
        </p:nvPicPr>
        <p:blipFill>
          <a:blip r:embed="rId2"/>
          <a:stretch>
            <a:fillRect/>
          </a:stretch>
        </p:blipFill>
        <p:spPr>
          <a:xfrm>
            <a:off x="1360715" y="426368"/>
            <a:ext cx="9546772" cy="5789375"/>
          </a:xfrm>
          <a:prstGeom prst="rect">
            <a:avLst/>
          </a:prstGeom>
        </p:spPr>
      </p:pic>
    </p:spTree>
    <p:extLst>
      <p:ext uri="{BB962C8B-B14F-4D97-AF65-F5344CB8AC3E}">
        <p14:creationId xmlns:p14="http://schemas.microsoft.com/office/powerpoint/2010/main" val="2186758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94F3-C72D-6B53-3535-87D35C05AF4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608A5E1-A614-81A4-C880-948C721845B4}"/>
              </a:ext>
            </a:extLst>
          </p:cNvPr>
          <p:cNvSpPr>
            <a:spLocks noGrp="1"/>
          </p:cNvSpPr>
          <p:nvPr>
            <p:ph type="body" sz="quarter" idx="13"/>
          </p:nvPr>
        </p:nvSpPr>
        <p:spPr>
          <a:xfrm>
            <a:off x="255996" y="1271219"/>
            <a:ext cx="11620318" cy="5379945"/>
          </a:xfrm>
        </p:spPr>
        <p:txBody>
          <a:bodyPr/>
          <a:lstStyle/>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9161297D-70FE-3995-7B8B-E65E2256CA1D}"/>
              </a:ext>
            </a:extLst>
          </p:cNvPr>
          <p:cNvSpPr txBox="1"/>
          <p:nvPr/>
        </p:nvSpPr>
        <p:spPr>
          <a:xfrm>
            <a:off x="255996" y="502545"/>
            <a:ext cx="10624338" cy="646331"/>
          </a:xfrm>
          <a:prstGeom prst="rect">
            <a:avLst/>
          </a:prstGeom>
          <a:noFill/>
        </p:spPr>
        <p:txBody>
          <a:bodyPr wrap="square" rtlCol="0">
            <a:spAutoFit/>
          </a:bodyPr>
          <a:lstStyle/>
          <a:p>
            <a:pPr lvl="0">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Tools &amp; Technology</a:t>
            </a:r>
          </a:p>
        </p:txBody>
      </p:sp>
      <p:cxnSp>
        <p:nvCxnSpPr>
          <p:cNvPr id="5" name="Straight Connector 4">
            <a:extLst>
              <a:ext uri="{FF2B5EF4-FFF2-40B4-BE49-F238E27FC236}">
                <a16:creationId xmlns:a16="http://schemas.microsoft.com/office/drawing/2014/main" id="{3510A734-7A05-F295-BDB9-B19896E7B49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BFB616C-5BF2-669F-3561-5850A2FEA385}"/>
              </a:ext>
            </a:extLst>
          </p:cNvPr>
          <p:cNvSpPr txBox="1"/>
          <p:nvPr/>
        </p:nvSpPr>
        <p:spPr>
          <a:xfrm>
            <a:off x="4430487" y="57036"/>
            <a:ext cx="7761514"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graphicFrame>
        <p:nvGraphicFramePr>
          <p:cNvPr id="8" name="Table 7">
            <a:extLst>
              <a:ext uri="{FF2B5EF4-FFF2-40B4-BE49-F238E27FC236}">
                <a16:creationId xmlns:a16="http://schemas.microsoft.com/office/drawing/2014/main" id="{6BF0D2C0-4AD5-0EE7-35BA-00EE18D1D1BC}"/>
              </a:ext>
            </a:extLst>
          </p:cNvPr>
          <p:cNvGraphicFramePr>
            <a:graphicFrameLocks noGrp="1"/>
          </p:cNvGraphicFramePr>
          <p:nvPr>
            <p:extLst>
              <p:ext uri="{D42A27DB-BD31-4B8C-83A1-F6EECF244321}">
                <p14:modId xmlns:p14="http://schemas.microsoft.com/office/powerpoint/2010/main" val="1908852874"/>
              </p:ext>
            </p:extLst>
          </p:nvPr>
        </p:nvGraphicFramePr>
        <p:xfrm>
          <a:off x="1328056" y="1314100"/>
          <a:ext cx="9840686" cy="5059680"/>
        </p:xfrm>
        <a:graphic>
          <a:graphicData uri="http://schemas.openxmlformats.org/drawingml/2006/table">
            <a:tbl>
              <a:tblPr firstRow="1" bandRow="1">
                <a:tableStyleId>{5C22544A-7EE6-4342-B048-85BDC9FD1C3A}</a:tableStyleId>
              </a:tblPr>
              <a:tblGrid>
                <a:gridCol w="4920343">
                  <a:extLst>
                    <a:ext uri="{9D8B030D-6E8A-4147-A177-3AD203B41FA5}">
                      <a16:colId xmlns:a16="http://schemas.microsoft.com/office/drawing/2014/main" val="1119376847"/>
                    </a:ext>
                  </a:extLst>
                </a:gridCol>
                <a:gridCol w="4920343">
                  <a:extLst>
                    <a:ext uri="{9D8B030D-6E8A-4147-A177-3AD203B41FA5}">
                      <a16:colId xmlns:a16="http://schemas.microsoft.com/office/drawing/2014/main" val="142654071"/>
                    </a:ext>
                  </a:extLst>
                </a:gridCol>
              </a:tblGrid>
              <a:tr h="370840">
                <a:tc>
                  <a:txBody>
                    <a:bodyPr/>
                    <a:lstStyle/>
                    <a:p>
                      <a:pPr algn="l">
                        <a:buNone/>
                      </a:pPr>
                      <a:r>
                        <a:rPr lang="en-IN" sz="2400" b="0">
                          <a:solidFill>
                            <a:schemeClr val="tx1"/>
                          </a:solidFill>
                          <a:effectLst/>
                        </a:rPr>
                        <a:t>Layer</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a:solidFill>
                            <a:schemeClr val="tx1"/>
                          </a:solidFill>
                          <a:effectLst/>
                        </a:rPr>
                        <a:t>Technology</a:t>
                      </a:r>
                      <a:endParaRPr lang="en-IN" sz="2400" b="0" i="0">
                        <a:solidFill>
                          <a:schemeClr val="tx1"/>
                        </a:solidFill>
                        <a:effectLst/>
                        <a:latin typeface="-apple-system"/>
                      </a:endParaRPr>
                    </a:p>
                  </a:txBody>
                  <a:tcPr marL="12700" marR="12700" marT="12700" marB="12700" anchor="ctr"/>
                </a:tc>
                <a:extLst>
                  <a:ext uri="{0D108BD9-81ED-4DB2-BD59-A6C34878D82A}">
                    <a16:rowId xmlns:a16="http://schemas.microsoft.com/office/drawing/2014/main" val="1311550857"/>
                  </a:ext>
                </a:extLst>
              </a:tr>
              <a:tr h="370840">
                <a:tc>
                  <a:txBody>
                    <a:bodyPr/>
                    <a:lstStyle/>
                    <a:p>
                      <a:pPr algn="l">
                        <a:buNone/>
                      </a:pPr>
                      <a:r>
                        <a:rPr lang="en-IN" sz="2400" b="0">
                          <a:solidFill>
                            <a:schemeClr val="tx1"/>
                          </a:solidFill>
                          <a:effectLst/>
                        </a:rPr>
                        <a:t>Language</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a:solidFill>
                            <a:schemeClr val="tx1"/>
                          </a:solidFill>
                          <a:effectLst/>
                        </a:rPr>
                        <a:t>Python 3.12</a:t>
                      </a:r>
                      <a:endParaRPr lang="en-IN" sz="2400" b="0" i="0">
                        <a:solidFill>
                          <a:schemeClr val="tx1"/>
                        </a:solidFill>
                        <a:effectLst/>
                        <a:latin typeface="-apple-system"/>
                      </a:endParaRPr>
                    </a:p>
                  </a:txBody>
                  <a:tcPr marL="12700" marR="12700" marT="12700" marB="12700" anchor="ctr"/>
                </a:tc>
                <a:extLst>
                  <a:ext uri="{0D108BD9-81ED-4DB2-BD59-A6C34878D82A}">
                    <a16:rowId xmlns:a16="http://schemas.microsoft.com/office/drawing/2014/main" val="194572351"/>
                  </a:ext>
                </a:extLst>
              </a:tr>
              <a:tr h="370840">
                <a:tc>
                  <a:txBody>
                    <a:bodyPr/>
                    <a:lstStyle/>
                    <a:p>
                      <a:pPr algn="l">
                        <a:buNone/>
                      </a:pPr>
                      <a:r>
                        <a:rPr lang="en-IN" sz="2400" b="0">
                          <a:solidFill>
                            <a:schemeClr val="tx1"/>
                          </a:solidFill>
                          <a:effectLst/>
                        </a:rPr>
                        <a:t>Authoritative store</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a:solidFill>
                            <a:schemeClr val="tx1"/>
                          </a:solidFill>
                          <a:effectLst/>
                        </a:rPr>
                        <a:t>PostgreSQL, </a:t>
                      </a:r>
                      <a:r>
                        <a:rPr lang="en-IN" sz="2400" b="0" dirty="0" err="1">
                          <a:solidFill>
                            <a:schemeClr val="tx1"/>
                          </a:solidFill>
                          <a:effectLst/>
                        </a:rPr>
                        <a:t>SQLAlchemy</a:t>
                      </a:r>
                      <a:r>
                        <a:rPr lang="en-IN" sz="2400" b="0" dirty="0">
                          <a:solidFill>
                            <a:schemeClr val="tx1"/>
                          </a:solidFill>
                          <a:effectLst/>
                        </a:rPr>
                        <a:t>, Alembic</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2427485692"/>
                  </a:ext>
                </a:extLst>
              </a:tr>
              <a:tr h="370840">
                <a:tc>
                  <a:txBody>
                    <a:bodyPr/>
                    <a:lstStyle/>
                    <a:p>
                      <a:pPr algn="l">
                        <a:buNone/>
                      </a:pPr>
                      <a:r>
                        <a:rPr lang="en-IN" sz="2400" b="0" dirty="0">
                          <a:solidFill>
                            <a:schemeClr val="tx1"/>
                          </a:solidFill>
                          <a:effectLst/>
                        </a:rPr>
                        <a:t>Vector Database &amp; Indexing</a:t>
                      </a:r>
                      <a:endParaRPr lang="en-IN" sz="2400" b="0" i="0" dirty="0">
                        <a:solidFill>
                          <a:schemeClr val="tx1"/>
                        </a:solidFill>
                        <a:effectLst/>
                        <a:latin typeface="-apple-system"/>
                      </a:endParaRPr>
                    </a:p>
                  </a:txBody>
                  <a:tcPr marL="12700" marR="12700" marT="12700" marB="12700" anchor="ctr"/>
                </a:tc>
                <a:tc>
                  <a:txBody>
                    <a:bodyPr/>
                    <a:lstStyle/>
                    <a:p>
                      <a:pPr algn="l">
                        <a:buNone/>
                      </a:pPr>
                      <a:r>
                        <a:rPr lang="en-IN" sz="2400" b="0" dirty="0" err="1">
                          <a:solidFill>
                            <a:schemeClr val="tx1"/>
                          </a:solidFill>
                          <a:effectLst/>
                        </a:rPr>
                        <a:t>Qdrant</a:t>
                      </a:r>
                      <a:r>
                        <a:rPr lang="en-IN" sz="2400" b="0" dirty="0">
                          <a:solidFill>
                            <a:schemeClr val="tx1"/>
                          </a:solidFill>
                          <a:effectLst/>
                        </a:rPr>
                        <a:t> — dense + BM25 sparse</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3781497113"/>
                  </a:ext>
                </a:extLst>
              </a:tr>
              <a:tr h="370840">
                <a:tc>
                  <a:txBody>
                    <a:bodyPr/>
                    <a:lstStyle/>
                    <a:p>
                      <a:pPr algn="l">
                        <a:buNone/>
                      </a:pPr>
                      <a:r>
                        <a:rPr lang="en-IN" sz="2400" b="0">
                          <a:solidFill>
                            <a:schemeClr val="tx1"/>
                          </a:solidFill>
                          <a:effectLst/>
                        </a:rPr>
                        <a:t>Object storage</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err="1">
                          <a:solidFill>
                            <a:schemeClr val="tx1"/>
                          </a:solidFill>
                          <a:effectLst/>
                        </a:rPr>
                        <a:t>SeaweedFS</a:t>
                      </a:r>
                      <a:r>
                        <a:rPr lang="en-IN" sz="2400" b="0" dirty="0">
                          <a:solidFill>
                            <a:schemeClr val="tx1"/>
                          </a:solidFill>
                          <a:effectLst/>
                        </a:rPr>
                        <a:t> via the S3 protocol (boto3)</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654615995"/>
                  </a:ext>
                </a:extLst>
              </a:tr>
              <a:tr h="370840">
                <a:tc>
                  <a:txBody>
                    <a:bodyPr/>
                    <a:lstStyle/>
                    <a:p>
                      <a:pPr algn="l">
                        <a:buNone/>
                      </a:pPr>
                      <a:r>
                        <a:rPr lang="en-IN" sz="2400" b="0">
                          <a:solidFill>
                            <a:schemeClr val="tx1"/>
                          </a:solidFill>
                          <a:effectLst/>
                        </a:rPr>
                        <a:t>Embeddings</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a:solidFill>
                            <a:schemeClr val="tx1"/>
                          </a:solidFill>
                          <a:effectLst/>
                        </a:rPr>
                        <a:t>nomic-embed-text via Ollama, 768-dim</a:t>
                      </a:r>
                      <a:endParaRPr lang="en-IN" sz="2400" b="0" i="0">
                        <a:solidFill>
                          <a:schemeClr val="tx1"/>
                        </a:solidFill>
                        <a:effectLst/>
                        <a:latin typeface="-apple-system"/>
                      </a:endParaRPr>
                    </a:p>
                  </a:txBody>
                  <a:tcPr marL="12700" marR="12700" marT="12700" marB="12700" anchor="ctr"/>
                </a:tc>
                <a:extLst>
                  <a:ext uri="{0D108BD9-81ED-4DB2-BD59-A6C34878D82A}">
                    <a16:rowId xmlns:a16="http://schemas.microsoft.com/office/drawing/2014/main" val="3525162043"/>
                  </a:ext>
                </a:extLst>
              </a:tr>
              <a:tr h="370840">
                <a:tc>
                  <a:txBody>
                    <a:bodyPr/>
                    <a:lstStyle/>
                    <a:p>
                      <a:pPr algn="l">
                        <a:buNone/>
                      </a:pPr>
                      <a:r>
                        <a:rPr lang="en-IN" sz="2400" b="0">
                          <a:solidFill>
                            <a:schemeClr val="tx1"/>
                          </a:solidFill>
                          <a:effectLst/>
                        </a:rPr>
                        <a:t>Generation</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a:solidFill>
                            <a:schemeClr val="tx1"/>
                          </a:solidFill>
                          <a:effectLst/>
                        </a:rPr>
                        <a:t>llama3.1:8b via </a:t>
                      </a:r>
                      <a:r>
                        <a:rPr lang="en-IN" sz="2400" b="0" dirty="0" err="1">
                          <a:solidFill>
                            <a:schemeClr val="tx1"/>
                          </a:solidFill>
                          <a:effectLst/>
                        </a:rPr>
                        <a:t>Ollama</a:t>
                      </a:r>
                      <a:r>
                        <a:rPr lang="en-IN" sz="2400" b="0" dirty="0">
                          <a:solidFill>
                            <a:schemeClr val="tx1"/>
                          </a:solidFill>
                          <a:effectLst/>
                        </a:rPr>
                        <a:t>, host-native</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1806258383"/>
                  </a:ext>
                </a:extLst>
              </a:tr>
              <a:tr h="370840">
                <a:tc>
                  <a:txBody>
                    <a:bodyPr/>
                    <a:lstStyle/>
                    <a:p>
                      <a:pPr algn="l">
                        <a:buNone/>
                      </a:pPr>
                      <a:r>
                        <a:rPr lang="en-IN" sz="2400" b="0">
                          <a:solidFill>
                            <a:schemeClr val="tx1"/>
                          </a:solidFill>
                          <a:effectLst/>
                        </a:rPr>
                        <a:t>Reranking</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a:solidFill>
                            <a:schemeClr val="tx1"/>
                          </a:solidFill>
                          <a:effectLst/>
                        </a:rPr>
                        <a:t>ms-marco-MiniLM-L-6-v2 cross-encoder</a:t>
                      </a:r>
                      <a:endParaRPr lang="en-IN" sz="2400" b="0" i="0">
                        <a:solidFill>
                          <a:schemeClr val="tx1"/>
                        </a:solidFill>
                        <a:effectLst/>
                        <a:latin typeface="-apple-system"/>
                      </a:endParaRPr>
                    </a:p>
                  </a:txBody>
                  <a:tcPr marL="12700" marR="12700" marT="12700" marB="12700" anchor="ctr"/>
                </a:tc>
                <a:extLst>
                  <a:ext uri="{0D108BD9-81ED-4DB2-BD59-A6C34878D82A}">
                    <a16:rowId xmlns:a16="http://schemas.microsoft.com/office/drawing/2014/main" val="2391346058"/>
                  </a:ext>
                </a:extLst>
              </a:tr>
              <a:tr h="370840">
                <a:tc>
                  <a:txBody>
                    <a:bodyPr/>
                    <a:lstStyle/>
                    <a:p>
                      <a:pPr algn="l">
                        <a:buNone/>
                      </a:pPr>
                      <a:r>
                        <a:rPr lang="en-IN" sz="2400" b="0" dirty="0">
                          <a:solidFill>
                            <a:schemeClr val="tx1"/>
                          </a:solidFill>
                          <a:effectLst/>
                        </a:rPr>
                        <a:t>Parsing &amp; Extraction</a:t>
                      </a:r>
                      <a:endParaRPr lang="en-IN" sz="2400" b="0" i="0" dirty="0">
                        <a:solidFill>
                          <a:schemeClr val="tx1"/>
                        </a:solidFill>
                        <a:effectLst/>
                        <a:latin typeface="-apple-system"/>
                      </a:endParaRPr>
                    </a:p>
                  </a:txBody>
                  <a:tcPr marL="12700" marR="12700" marT="12700" marB="12700" anchor="ctr"/>
                </a:tc>
                <a:tc>
                  <a:txBody>
                    <a:bodyPr/>
                    <a:lstStyle/>
                    <a:p>
                      <a:pPr algn="l">
                        <a:buNone/>
                      </a:pPr>
                      <a:r>
                        <a:rPr lang="en-IN" sz="2400" b="0" dirty="0" err="1">
                          <a:solidFill>
                            <a:schemeClr val="tx1"/>
                          </a:solidFill>
                          <a:effectLst/>
                        </a:rPr>
                        <a:t>PyMuPDF</a:t>
                      </a:r>
                      <a:r>
                        <a:rPr lang="en-IN" sz="2400" b="0" dirty="0">
                          <a:solidFill>
                            <a:schemeClr val="tx1"/>
                          </a:solidFill>
                          <a:effectLst/>
                        </a:rPr>
                        <a:t> and </a:t>
                      </a:r>
                      <a:r>
                        <a:rPr lang="en-IN" sz="2400" b="0" dirty="0" err="1">
                          <a:solidFill>
                            <a:schemeClr val="tx1"/>
                          </a:solidFill>
                          <a:effectLst/>
                        </a:rPr>
                        <a:t>Docling</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240397193"/>
                  </a:ext>
                </a:extLst>
              </a:tr>
              <a:tr h="370840">
                <a:tc>
                  <a:txBody>
                    <a:bodyPr/>
                    <a:lstStyle/>
                    <a:p>
                      <a:pPr algn="l">
                        <a:buNone/>
                      </a:pPr>
                      <a:r>
                        <a:rPr lang="en-IN" sz="2400" b="0">
                          <a:solidFill>
                            <a:schemeClr val="tx1"/>
                          </a:solidFill>
                          <a:effectLst/>
                        </a:rPr>
                        <a:t>API</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err="1">
                          <a:solidFill>
                            <a:schemeClr val="tx1"/>
                          </a:solidFill>
                          <a:effectLst/>
                        </a:rPr>
                        <a:t>FastAPI</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598327739"/>
                  </a:ext>
                </a:extLst>
              </a:tr>
              <a:tr h="370840">
                <a:tc>
                  <a:txBody>
                    <a:bodyPr/>
                    <a:lstStyle/>
                    <a:p>
                      <a:pPr algn="l">
                        <a:buNone/>
                      </a:pPr>
                      <a:r>
                        <a:rPr lang="en-IN" sz="2400" b="0">
                          <a:solidFill>
                            <a:schemeClr val="tx1"/>
                          </a:solidFill>
                          <a:effectLst/>
                        </a:rPr>
                        <a:t>Interface</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a:solidFill>
                            <a:schemeClr val="tx1"/>
                          </a:solidFill>
                          <a:effectLst/>
                        </a:rPr>
                        <a:t>Streamlit</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2620489"/>
                  </a:ext>
                </a:extLst>
              </a:tr>
              <a:tr h="370840">
                <a:tc>
                  <a:txBody>
                    <a:bodyPr/>
                    <a:lstStyle/>
                    <a:p>
                      <a:pPr algn="l">
                        <a:buNone/>
                      </a:pPr>
                      <a:r>
                        <a:rPr lang="en-IN" sz="2400" b="0">
                          <a:solidFill>
                            <a:schemeClr val="tx1"/>
                          </a:solidFill>
                          <a:effectLst/>
                        </a:rPr>
                        <a:t>Deployment</a:t>
                      </a:r>
                      <a:endParaRPr lang="en-IN" sz="2400" b="0" i="0">
                        <a:solidFill>
                          <a:schemeClr val="tx1"/>
                        </a:solidFill>
                        <a:effectLst/>
                        <a:latin typeface="-apple-system"/>
                      </a:endParaRPr>
                    </a:p>
                  </a:txBody>
                  <a:tcPr marL="12700" marR="12700" marT="12700" marB="12700" anchor="ctr"/>
                </a:tc>
                <a:tc>
                  <a:txBody>
                    <a:bodyPr/>
                    <a:lstStyle/>
                    <a:p>
                      <a:pPr algn="l">
                        <a:buNone/>
                      </a:pPr>
                      <a:r>
                        <a:rPr lang="en-IN" sz="2400" b="0" dirty="0">
                          <a:solidFill>
                            <a:schemeClr val="tx1"/>
                          </a:solidFill>
                          <a:effectLst/>
                        </a:rPr>
                        <a:t>Docker Compose, single node</a:t>
                      </a:r>
                      <a:endParaRPr lang="en-IN" sz="2400" b="0" i="0" dirty="0">
                        <a:solidFill>
                          <a:schemeClr val="tx1"/>
                        </a:solidFill>
                        <a:effectLst/>
                        <a:latin typeface="-apple-system"/>
                      </a:endParaRPr>
                    </a:p>
                  </a:txBody>
                  <a:tcPr marL="12700" marR="12700" marT="12700" marB="12700" anchor="ctr"/>
                </a:tc>
                <a:extLst>
                  <a:ext uri="{0D108BD9-81ED-4DB2-BD59-A6C34878D82A}">
                    <a16:rowId xmlns:a16="http://schemas.microsoft.com/office/drawing/2014/main" val="301037266"/>
                  </a:ext>
                </a:extLst>
              </a:tr>
            </a:tbl>
          </a:graphicData>
        </a:graphic>
      </p:graphicFrame>
    </p:spTree>
    <p:extLst>
      <p:ext uri="{BB962C8B-B14F-4D97-AF65-F5344CB8AC3E}">
        <p14:creationId xmlns:p14="http://schemas.microsoft.com/office/powerpoint/2010/main" val="751765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5074-E97D-A635-B73A-B03B7CA06E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5855F9-5B32-3E57-4662-34F00AE8182B}"/>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Findings and Results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49CF94A6-DCC7-F8FE-9852-BF5A69B7FCE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0B2C48-C818-7276-D104-C7B06AC55957}"/>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
        <p:nvSpPr>
          <p:cNvPr id="10" name="TextBox 9">
            <a:extLst>
              <a:ext uri="{FF2B5EF4-FFF2-40B4-BE49-F238E27FC236}">
                <a16:creationId xmlns:a16="http://schemas.microsoft.com/office/drawing/2014/main" id="{223583DE-E72B-5110-9651-E0242B240F02}"/>
              </a:ext>
            </a:extLst>
          </p:cNvPr>
          <p:cNvSpPr txBox="1"/>
          <p:nvPr/>
        </p:nvSpPr>
        <p:spPr>
          <a:xfrm>
            <a:off x="2035629" y="2612571"/>
            <a:ext cx="184731" cy="369332"/>
          </a:xfrm>
          <a:prstGeom prst="rect">
            <a:avLst/>
          </a:prstGeom>
          <a:noFill/>
        </p:spPr>
        <p:txBody>
          <a:bodyPr wrap="none" rtlCol="0">
            <a:spAutoFit/>
          </a:bodyPr>
          <a:lstStyle/>
          <a:p>
            <a:endParaRPr lang="en-IN" dirty="0"/>
          </a:p>
        </p:txBody>
      </p:sp>
      <p:graphicFrame>
        <p:nvGraphicFramePr>
          <p:cNvPr id="19" name="Table 18">
            <a:extLst>
              <a:ext uri="{FF2B5EF4-FFF2-40B4-BE49-F238E27FC236}">
                <a16:creationId xmlns:a16="http://schemas.microsoft.com/office/drawing/2014/main" id="{61FBA02E-E169-0CCA-7075-DDA4EAE20311}"/>
              </a:ext>
            </a:extLst>
          </p:cNvPr>
          <p:cNvGraphicFramePr>
            <a:graphicFrameLocks noGrp="1"/>
          </p:cNvGraphicFramePr>
          <p:nvPr>
            <p:extLst>
              <p:ext uri="{D42A27DB-BD31-4B8C-83A1-F6EECF244321}">
                <p14:modId xmlns:p14="http://schemas.microsoft.com/office/powerpoint/2010/main" val="3452877007"/>
              </p:ext>
            </p:extLst>
          </p:nvPr>
        </p:nvGraphicFramePr>
        <p:xfrm>
          <a:off x="3737369" y="1449571"/>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59781886"/>
                    </a:ext>
                  </a:extLst>
                </a:gridCol>
                <a:gridCol w="4064000">
                  <a:extLst>
                    <a:ext uri="{9D8B030D-6E8A-4147-A177-3AD203B41FA5}">
                      <a16:colId xmlns:a16="http://schemas.microsoft.com/office/drawing/2014/main" val="1642611755"/>
                    </a:ext>
                  </a:extLst>
                </a:gridCol>
              </a:tblGrid>
              <a:tr h="370840">
                <a:tc>
                  <a:txBody>
                    <a:bodyPr/>
                    <a:lstStyle/>
                    <a:p>
                      <a:pPr algn="l">
                        <a:buNone/>
                      </a:pPr>
                      <a:r>
                        <a:rPr lang="en-IN" sz="2000" b="0" i="0">
                          <a:solidFill>
                            <a:schemeClr val="tx1"/>
                          </a:solidFill>
                          <a:effectLst/>
                          <a:latin typeface="+mn-lt"/>
                        </a:rPr>
                        <a:t>Filings</a:t>
                      </a:r>
                    </a:p>
                  </a:txBody>
                  <a:tcPr marL="12700" marR="12700" marT="12700" marB="12700" anchor="ctr"/>
                </a:tc>
                <a:tc>
                  <a:txBody>
                    <a:bodyPr/>
                    <a:lstStyle/>
                    <a:p>
                      <a:pPr algn="l">
                        <a:buNone/>
                      </a:pPr>
                      <a:r>
                        <a:rPr lang="en-IN" sz="2000" b="0" i="0" dirty="0">
                          <a:solidFill>
                            <a:schemeClr val="tx1"/>
                          </a:solidFill>
                          <a:effectLst/>
                          <a:latin typeface="+mn-lt"/>
                        </a:rPr>
                        <a:t>3 (Infosys, HDFC Bank, Ola Electric)</a:t>
                      </a:r>
                    </a:p>
                  </a:txBody>
                  <a:tcPr marL="12700" marR="12700" marT="12700" marB="12700" anchor="ctr"/>
                </a:tc>
                <a:extLst>
                  <a:ext uri="{0D108BD9-81ED-4DB2-BD59-A6C34878D82A}">
                    <a16:rowId xmlns:a16="http://schemas.microsoft.com/office/drawing/2014/main" val="3427957935"/>
                  </a:ext>
                </a:extLst>
              </a:tr>
              <a:tr h="370840">
                <a:tc>
                  <a:txBody>
                    <a:bodyPr/>
                    <a:lstStyle/>
                    <a:p>
                      <a:pPr algn="l">
                        <a:buNone/>
                      </a:pPr>
                      <a:r>
                        <a:rPr lang="en-IN" sz="2000" b="0" i="0">
                          <a:solidFill>
                            <a:schemeClr val="tx1"/>
                          </a:solidFill>
                          <a:effectLst/>
                          <a:latin typeface="+mn-lt"/>
                        </a:rPr>
                        <a:t>Pages extracted</a:t>
                      </a:r>
                    </a:p>
                  </a:txBody>
                  <a:tcPr marL="12700" marR="12700" marT="12700" marB="12700" anchor="ctr"/>
                </a:tc>
                <a:tc>
                  <a:txBody>
                    <a:bodyPr/>
                    <a:lstStyle/>
                    <a:p>
                      <a:pPr algn="l">
                        <a:buNone/>
                      </a:pPr>
                      <a:r>
                        <a:rPr lang="en-IN" sz="2000" b="0" i="0">
                          <a:solidFill>
                            <a:schemeClr val="tx1"/>
                          </a:solidFill>
                          <a:effectLst/>
                          <a:latin typeface="+mn-lt"/>
                        </a:rPr>
                        <a:t>1,403</a:t>
                      </a:r>
                    </a:p>
                  </a:txBody>
                  <a:tcPr marL="12700" marR="12700" marT="12700" marB="12700" anchor="ctr"/>
                </a:tc>
                <a:extLst>
                  <a:ext uri="{0D108BD9-81ED-4DB2-BD59-A6C34878D82A}">
                    <a16:rowId xmlns:a16="http://schemas.microsoft.com/office/drawing/2014/main" val="1485943386"/>
                  </a:ext>
                </a:extLst>
              </a:tr>
              <a:tr h="370840">
                <a:tc>
                  <a:txBody>
                    <a:bodyPr/>
                    <a:lstStyle/>
                    <a:p>
                      <a:pPr algn="l">
                        <a:buNone/>
                      </a:pPr>
                      <a:r>
                        <a:rPr lang="en-IN" sz="2000" b="0" i="0">
                          <a:solidFill>
                            <a:schemeClr val="tx1"/>
                          </a:solidFill>
                          <a:effectLst/>
                          <a:latin typeface="+mn-lt"/>
                        </a:rPr>
                        <a:t>Text blocks</a:t>
                      </a:r>
                    </a:p>
                  </a:txBody>
                  <a:tcPr marL="12700" marR="12700" marT="12700" marB="12700" anchor="ctr"/>
                </a:tc>
                <a:tc>
                  <a:txBody>
                    <a:bodyPr/>
                    <a:lstStyle/>
                    <a:p>
                      <a:pPr algn="l">
                        <a:buNone/>
                      </a:pPr>
                      <a:r>
                        <a:rPr lang="en-IN" sz="2000" b="0" i="0">
                          <a:solidFill>
                            <a:schemeClr val="tx1"/>
                          </a:solidFill>
                          <a:effectLst/>
                          <a:latin typeface="+mn-lt"/>
                        </a:rPr>
                        <a:t>40,476</a:t>
                      </a:r>
                    </a:p>
                  </a:txBody>
                  <a:tcPr marL="12700" marR="12700" marT="12700" marB="12700" anchor="ctr"/>
                </a:tc>
                <a:extLst>
                  <a:ext uri="{0D108BD9-81ED-4DB2-BD59-A6C34878D82A}">
                    <a16:rowId xmlns:a16="http://schemas.microsoft.com/office/drawing/2014/main" val="1173683667"/>
                  </a:ext>
                </a:extLst>
              </a:tr>
              <a:tr h="370840">
                <a:tc>
                  <a:txBody>
                    <a:bodyPr/>
                    <a:lstStyle/>
                    <a:p>
                      <a:pPr algn="l">
                        <a:buNone/>
                      </a:pPr>
                      <a:r>
                        <a:rPr lang="en-IN" sz="2000" b="0" i="0">
                          <a:solidFill>
                            <a:schemeClr val="tx1"/>
                          </a:solidFill>
                          <a:effectLst/>
                          <a:latin typeface="+mn-lt"/>
                        </a:rPr>
                        <a:t>Retrievable passages</a:t>
                      </a:r>
                    </a:p>
                  </a:txBody>
                  <a:tcPr marL="12700" marR="12700" marT="12700" marB="12700" anchor="ctr"/>
                </a:tc>
                <a:tc>
                  <a:txBody>
                    <a:bodyPr/>
                    <a:lstStyle/>
                    <a:p>
                      <a:pPr algn="l">
                        <a:buNone/>
                      </a:pPr>
                      <a:r>
                        <a:rPr lang="en-IN" sz="2000" b="0" i="0" dirty="0">
                          <a:solidFill>
                            <a:schemeClr val="tx1"/>
                          </a:solidFill>
                          <a:effectLst/>
                          <a:latin typeface="+mn-lt"/>
                        </a:rPr>
                        <a:t>5,637</a:t>
                      </a:r>
                    </a:p>
                  </a:txBody>
                  <a:tcPr marL="12700" marR="12700" marT="12700" marB="12700" anchor="ctr"/>
                </a:tc>
                <a:extLst>
                  <a:ext uri="{0D108BD9-81ED-4DB2-BD59-A6C34878D82A}">
                    <a16:rowId xmlns:a16="http://schemas.microsoft.com/office/drawing/2014/main" val="2066539546"/>
                  </a:ext>
                </a:extLst>
              </a:tr>
              <a:tr h="370840">
                <a:tc>
                  <a:txBody>
                    <a:bodyPr/>
                    <a:lstStyle/>
                    <a:p>
                      <a:pPr algn="l">
                        <a:buNone/>
                      </a:pPr>
                      <a:r>
                        <a:rPr lang="en-IN" sz="2000" b="0" i="0" dirty="0">
                          <a:solidFill>
                            <a:schemeClr val="tx1"/>
                          </a:solidFill>
                          <a:effectLst/>
                          <a:latin typeface="+mn-lt"/>
                        </a:rPr>
                        <a:t>Search index entries</a:t>
                      </a:r>
                    </a:p>
                  </a:txBody>
                  <a:tcPr marL="12700" marR="12700" marT="12700" marB="12700" anchor="ctr"/>
                </a:tc>
                <a:tc>
                  <a:txBody>
                    <a:bodyPr/>
                    <a:lstStyle/>
                    <a:p>
                      <a:pPr algn="l">
                        <a:buNone/>
                      </a:pPr>
                      <a:r>
                        <a:rPr lang="en-IN" sz="2000" b="0" i="0" dirty="0">
                          <a:solidFill>
                            <a:schemeClr val="tx1"/>
                          </a:solidFill>
                          <a:effectLst/>
                          <a:latin typeface="+mn-lt"/>
                        </a:rPr>
                        <a:t>4,867</a:t>
                      </a:r>
                    </a:p>
                  </a:txBody>
                  <a:tcPr marL="12700" marR="12700" marT="12700" marB="12700" anchor="ctr"/>
                </a:tc>
                <a:extLst>
                  <a:ext uri="{0D108BD9-81ED-4DB2-BD59-A6C34878D82A}">
                    <a16:rowId xmlns:a16="http://schemas.microsoft.com/office/drawing/2014/main" val="644743681"/>
                  </a:ext>
                </a:extLst>
              </a:tr>
            </a:tbl>
          </a:graphicData>
        </a:graphic>
      </p:graphicFrame>
      <p:graphicFrame>
        <p:nvGraphicFramePr>
          <p:cNvPr id="21" name="Table 20">
            <a:extLst>
              <a:ext uri="{FF2B5EF4-FFF2-40B4-BE49-F238E27FC236}">
                <a16:creationId xmlns:a16="http://schemas.microsoft.com/office/drawing/2014/main" id="{7F3C776E-5BF4-00BB-6705-3F87CE49E7A1}"/>
              </a:ext>
            </a:extLst>
          </p:cNvPr>
          <p:cNvGraphicFramePr>
            <a:graphicFrameLocks noGrp="1"/>
          </p:cNvGraphicFramePr>
          <p:nvPr>
            <p:extLst>
              <p:ext uri="{D42A27DB-BD31-4B8C-83A1-F6EECF244321}">
                <p14:modId xmlns:p14="http://schemas.microsoft.com/office/powerpoint/2010/main" val="4057960990"/>
              </p:ext>
            </p:extLst>
          </p:nvPr>
        </p:nvGraphicFramePr>
        <p:xfrm>
          <a:off x="3737369" y="4163366"/>
          <a:ext cx="8128000" cy="19304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770246397"/>
                    </a:ext>
                  </a:extLst>
                </a:gridCol>
                <a:gridCol w="4064000">
                  <a:extLst>
                    <a:ext uri="{9D8B030D-6E8A-4147-A177-3AD203B41FA5}">
                      <a16:colId xmlns:a16="http://schemas.microsoft.com/office/drawing/2014/main" val="3367195451"/>
                    </a:ext>
                  </a:extLst>
                </a:gridCol>
              </a:tblGrid>
              <a:tr h="370840">
                <a:tc>
                  <a:txBody>
                    <a:bodyPr/>
                    <a:lstStyle/>
                    <a:p>
                      <a:pPr algn="l">
                        <a:buNone/>
                      </a:pPr>
                      <a:r>
                        <a:rPr lang="en-IN" sz="2400" b="0" i="0">
                          <a:solidFill>
                            <a:schemeClr val="tx1"/>
                          </a:solidFill>
                          <a:effectLst/>
                          <a:latin typeface="+mn-lt"/>
                        </a:rPr>
                        <a:t>Question over 4 passages</a:t>
                      </a:r>
                    </a:p>
                  </a:txBody>
                  <a:tcPr marL="12700" marR="12700" marT="12700" marB="12700" anchor="ctr"/>
                </a:tc>
                <a:tc>
                  <a:txBody>
                    <a:bodyPr/>
                    <a:lstStyle/>
                    <a:p>
                      <a:pPr algn="l">
                        <a:buNone/>
                      </a:pPr>
                      <a:r>
                        <a:rPr lang="en-IN" sz="2400" b="0" i="0" dirty="0">
                          <a:solidFill>
                            <a:schemeClr val="tx1"/>
                          </a:solidFill>
                          <a:effectLst/>
                          <a:latin typeface="+mn-lt"/>
                        </a:rPr>
                        <a:t>302 s end to end</a:t>
                      </a:r>
                    </a:p>
                  </a:txBody>
                  <a:tcPr marL="12700" marR="12700" marT="12700" marB="12700" anchor="ctr"/>
                </a:tc>
                <a:extLst>
                  <a:ext uri="{0D108BD9-81ED-4DB2-BD59-A6C34878D82A}">
                    <a16:rowId xmlns:a16="http://schemas.microsoft.com/office/drawing/2014/main" val="480226532"/>
                  </a:ext>
                </a:extLst>
              </a:tr>
              <a:tr h="370840">
                <a:tc>
                  <a:txBody>
                    <a:bodyPr/>
                    <a:lstStyle/>
                    <a:p>
                      <a:pPr algn="l">
                        <a:buNone/>
                      </a:pPr>
                      <a:r>
                        <a:rPr lang="en-IN" sz="2400" b="0" i="0">
                          <a:solidFill>
                            <a:schemeClr val="tx1"/>
                          </a:solidFill>
                          <a:effectLst/>
                          <a:latin typeface="+mn-lt"/>
                        </a:rPr>
                        <a:t>Of which the language model</a:t>
                      </a:r>
                    </a:p>
                  </a:txBody>
                  <a:tcPr marL="12700" marR="12700" marT="12700" marB="12700" anchor="ctr"/>
                </a:tc>
                <a:tc>
                  <a:txBody>
                    <a:bodyPr/>
                    <a:lstStyle/>
                    <a:p>
                      <a:pPr algn="l">
                        <a:buNone/>
                      </a:pPr>
                      <a:r>
                        <a:rPr lang="en-IN" sz="2400" b="0" i="0">
                          <a:solidFill>
                            <a:schemeClr val="tx1"/>
                          </a:solidFill>
                          <a:effectLst/>
                          <a:latin typeface="+mn-lt"/>
                        </a:rPr>
                        <a:t>287 s</a:t>
                      </a:r>
                    </a:p>
                  </a:txBody>
                  <a:tcPr marL="12700" marR="12700" marT="12700" marB="12700" anchor="ctr"/>
                </a:tc>
                <a:extLst>
                  <a:ext uri="{0D108BD9-81ED-4DB2-BD59-A6C34878D82A}">
                    <a16:rowId xmlns:a16="http://schemas.microsoft.com/office/drawing/2014/main" val="3275110723"/>
                  </a:ext>
                </a:extLst>
              </a:tr>
              <a:tr h="370840">
                <a:tc>
                  <a:txBody>
                    <a:bodyPr/>
                    <a:lstStyle/>
                    <a:p>
                      <a:pPr algn="l">
                        <a:buNone/>
                      </a:pPr>
                      <a:r>
                        <a:rPr lang="en-IN" sz="2400" b="0" i="0">
                          <a:solidFill>
                            <a:schemeClr val="tx1"/>
                          </a:solidFill>
                          <a:effectLst/>
                          <a:latin typeface="+mn-lt"/>
                        </a:rPr>
                        <a:t>Of which all verification</a:t>
                      </a:r>
                    </a:p>
                  </a:txBody>
                  <a:tcPr marL="12700" marR="12700" marT="12700" marB="12700" anchor="ctr"/>
                </a:tc>
                <a:tc>
                  <a:txBody>
                    <a:bodyPr/>
                    <a:lstStyle/>
                    <a:p>
                      <a:pPr algn="l">
                        <a:buNone/>
                      </a:pPr>
                      <a:r>
                        <a:rPr lang="en-IN" sz="2400" b="0" i="0">
                          <a:solidFill>
                            <a:schemeClr val="tx1"/>
                          </a:solidFill>
                          <a:effectLst/>
                          <a:latin typeface="+mn-lt"/>
                        </a:rPr>
                        <a:t>53 ms</a:t>
                      </a:r>
                    </a:p>
                  </a:txBody>
                  <a:tcPr marL="12700" marR="12700" marT="12700" marB="12700" anchor="ctr"/>
                </a:tc>
                <a:extLst>
                  <a:ext uri="{0D108BD9-81ED-4DB2-BD59-A6C34878D82A}">
                    <a16:rowId xmlns:a16="http://schemas.microsoft.com/office/drawing/2014/main" val="98828304"/>
                  </a:ext>
                </a:extLst>
              </a:tr>
              <a:tr h="370840">
                <a:tc>
                  <a:txBody>
                    <a:bodyPr/>
                    <a:lstStyle/>
                    <a:p>
                      <a:pPr algn="l">
                        <a:buNone/>
                      </a:pPr>
                      <a:r>
                        <a:rPr lang="en-IN" sz="2400" b="0" i="0" dirty="0">
                          <a:solidFill>
                            <a:schemeClr val="tx1"/>
                          </a:solidFill>
                          <a:effectLst/>
                          <a:latin typeface="+mn-lt"/>
                        </a:rPr>
                        <a:t>Question with no matching evidence</a:t>
                      </a:r>
                    </a:p>
                  </a:txBody>
                  <a:tcPr marL="12700" marR="12700" marT="12700" marB="12700" anchor="ctr"/>
                </a:tc>
                <a:tc>
                  <a:txBody>
                    <a:bodyPr/>
                    <a:lstStyle/>
                    <a:p>
                      <a:pPr algn="l">
                        <a:buNone/>
                      </a:pPr>
                      <a:r>
                        <a:rPr lang="en-IN" sz="2400" b="0" i="0" dirty="0">
                          <a:solidFill>
                            <a:schemeClr val="tx1"/>
                          </a:solidFill>
                          <a:effectLst/>
                          <a:latin typeface="+mn-lt"/>
                        </a:rPr>
                        <a:t>1.2 s</a:t>
                      </a:r>
                    </a:p>
                  </a:txBody>
                  <a:tcPr marL="12700" marR="12700" marT="12700" marB="12700" anchor="ctr"/>
                </a:tc>
                <a:extLst>
                  <a:ext uri="{0D108BD9-81ED-4DB2-BD59-A6C34878D82A}">
                    <a16:rowId xmlns:a16="http://schemas.microsoft.com/office/drawing/2014/main" val="3352135547"/>
                  </a:ext>
                </a:extLst>
              </a:tr>
            </a:tbl>
          </a:graphicData>
        </a:graphic>
      </p:graphicFrame>
      <p:sp>
        <p:nvSpPr>
          <p:cNvPr id="25" name="TextBox 24">
            <a:extLst>
              <a:ext uri="{FF2B5EF4-FFF2-40B4-BE49-F238E27FC236}">
                <a16:creationId xmlns:a16="http://schemas.microsoft.com/office/drawing/2014/main" id="{7D26F591-60A0-5791-02A9-891F2E293502}"/>
              </a:ext>
            </a:extLst>
          </p:cNvPr>
          <p:cNvSpPr txBox="1"/>
          <p:nvPr/>
        </p:nvSpPr>
        <p:spPr>
          <a:xfrm>
            <a:off x="221274" y="4666901"/>
            <a:ext cx="6112328" cy="461665"/>
          </a:xfrm>
          <a:prstGeom prst="rect">
            <a:avLst/>
          </a:prstGeom>
          <a:noFill/>
        </p:spPr>
        <p:txBody>
          <a:bodyPr wrap="square">
            <a:spAutoFit/>
          </a:bodyPr>
          <a:lstStyle/>
          <a:p>
            <a:pPr marL="0" indent="0">
              <a:buNone/>
            </a:pPr>
            <a:r>
              <a:rPr lang="en-IN" sz="2400" b="1" dirty="0">
                <a:solidFill>
                  <a:srgbClr val="25B9ED"/>
                </a:solidFill>
                <a:latin typeface="+mn-lt"/>
              </a:rPr>
              <a:t>A real answered question</a:t>
            </a:r>
            <a:endParaRPr lang="en-US" sz="2400" b="1" dirty="0">
              <a:solidFill>
                <a:srgbClr val="25B9ED"/>
              </a:solidFill>
              <a:latin typeface="+mn-lt"/>
            </a:endParaRPr>
          </a:p>
        </p:txBody>
      </p:sp>
      <p:sp>
        <p:nvSpPr>
          <p:cNvPr id="27" name="TextBox 26">
            <a:extLst>
              <a:ext uri="{FF2B5EF4-FFF2-40B4-BE49-F238E27FC236}">
                <a16:creationId xmlns:a16="http://schemas.microsoft.com/office/drawing/2014/main" id="{746E21A5-CE47-F633-FE2C-3E1357432FD5}"/>
              </a:ext>
            </a:extLst>
          </p:cNvPr>
          <p:cNvSpPr txBox="1"/>
          <p:nvPr/>
        </p:nvSpPr>
        <p:spPr>
          <a:xfrm>
            <a:off x="681205" y="2145838"/>
            <a:ext cx="6112328" cy="461665"/>
          </a:xfrm>
          <a:prstGeom prst="rect">
            <a:avLst/>
          </a:prstGeom>
          <a:noFill/>
        </p:spPr>
        <p:txBody>
          <a:bodyPr wrap="square">
            <a:spAutoFit/>
          </a:bodyPr>
          <a:lstStyle/>
          <a:p>
            <a:r>
              <a:rPr lang="en-IN" sz="2400" b="1" i="0" dirty="0">
                <a:solidFill>
                  <a:srgbClr val="25B9ED"/>
                </a:solidFill>
                <a:effectLst/>
                <a:latin typeface="+mn-lt"/>
              </a:rPr>
              <a:t>Corpus processed</a:t>
            </a:r>
            <a:endParaRPr lang="en-IN" sz="2400" b="1" dirty="0">
              <a:solidFill>
                <a:srgbClr val="25B9ED"/>
              </a:solidFill>
            </a:endParaRPr>
          </a:p>
        </p:txBody>
      </p:sp>
    </p:spTree>
    <p:extLst>
      <p:ext uri="{BB962C8B-B14F-4D97-AF65-F5344CB8AC3E}">
        <p14:creationId xmlns:p14="http://schemas.microsoft.com/office/powerpoint/2010/main" val="2817296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74296-B412-F1A6-DC73-AC918226565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0129E21-9124-E932-76A3-CC674521727B}"/>
              </a:ext>
            </a:extLst>
          </p:cNvPr>
          <p:cNvSpPr>
            <a:spLocks noGrp="1"/>
          </p:cNvSpPr>
          <p:nvPr>
            <p:ph type="body" sz="quarter" idx="13"/>
          </p:nvPr>
        </p:nvSpPr>
        <p:spPr>
          <a:xfrm>
            <a:off x="255996" y="1390962"/>
            <a:ext cx="11642090" cy="4574405"/>
          </a:xfrm>
        </p:spPr>
        <p:txBody>
          <a:bodyPr/>
          <a:lstStyle/>
          <a:p>
            <a:pPr algn="just">
              <a:lnSpc>
                <a:spcPct val="100000"/>
              </a:lnSpc>
            </a:pPr>
            <a:r>
              <a:rPr lang="en-IN" dirty="0">
                <a:solidFill>
                  <a:schemeClr val="tx1"/>
                </a:solidFill>
                <a:latin typeface="+mn-lt"/>
              </a:rPr>
              <a:t>A complete, measured answer pipeline over real filings </a:t>
            </a:r>
            <a:r>
              <a:rPr lang="en-IN" b="0" dirty="0">
                <a:solidFill>
                  <a:schemeClr val="tx1"/>
                </a:solidFill>
                <a:latin typeface="+mn-lt"/>
              </a:rPr>
              <a:t>— 1,403 pages ingested, 5,637 passages indexed, and a question returns prose in which every claim cites the stored span it rests on.</a:t>
            </a:r>
          </a:p>
          <a:p>
            <a:pPr algn="just">
              <a:lnSpc>
                <a:spcPct val="100000"/>
              </a:lnSpc>
            </a:pPr>
            <a:r>
              <a:rPr lang="en-IN" dirty="0">
                <a:solidFill>
                  <a:schemeClr val="tx1"/>
                </a:solidFill>
                <a:latin typeface="+mn-lt"/>
              </a:rPr>
              <a:t>Grounding is affordable. </a:t>
            </a:r>
            <a:r>
              <a:rPr lang="en-IN" b="0" dirty="0">
                <a:solidFill>
                  <a:schemeClr val="tx1"/>
                </a:solidFill>
                <a:latin typeface="+mn-lt"/>
              </a:rPr>
              <a:t>Verification costs 0–53 ms against a 287-second model call, so correctness is not traded against speed.</a:t>
            </a:r>
          </a:p>
          <a:p>
            <a:pPr algn="just">
              <a:lnSpc>
                <a:spcPct val="100000"/>
              </a:lnSpc>
            </a:pPr>
            <a:r>
              <a:rPr lang="en-IN" dirty="0">
                <a:solidFill>
                  <a:schemeClr val="tx1"/>
                </a:solidFill>
                <a:latin typeface="+mn-lt"/>
              </a:rPr>
              <a:t>Design decisions were made on measurement, not intuition </a:t>
            </a:r>
            <a:r>
              <a:rPr lang="en-IN" b="0" dirty="0">
                <a:solidFill>
                  <a:schemeClr val="tx1"/>
                </a:solidFill>
                <a:latin typeface="+mn-lt"/>
              </a:rPr>
              <a:t>— three designs were built, measured and rejected, including one specified in the original blueprint.</a:t>
            </a:r>
          </a:p>
        </p:txBody>
      </p:sp>
      <p:sp>
        <p:nvSpPr>
          <p:cNvPr id="3" name="TextBox 2">
            <a:extLst>
              <a:ext uri="{FF2B5EF4-FFF2-40B4-BE49-F238E27FC236}">
                <a16:creationId xmlns:a16="http://schemas.microsoft.com/office/drawing/2014/main" id="{BEE3DBFE-962A-96E1-D16A-BC5991877CEA}"/>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Conclusion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250FAAB3-660D-41D3-C629-28187B8CEEF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C312C11-CFB9-B91E-E109-2C8800D6C804}"/>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821477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E05AA-5535-2D11-6A8D-CB9AA22DAB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059626-513D-BC63-7500-7543FA256D65}"/>
              </a:ext>
            </a:extLst>
          </p:cNvPr>
          <p:cNvSpPr>
            <a:spLocks noGrp="1"/>
          </p:cNvSpPr>
          <p:nvPr>
            <p:ph type="body" sz="quarter" idx="13"/>
          </p:nvPr>
        </p:nvSpPr>
        <p:spPr>
          <a:xfrm>
            <a:off x="255996" y="1390962"/>
            <a:ext cx="11642090" cy="5314638"/>
          </a:xfrm>
        </p:spPr>
        <p:txBody>
          <a:bodyPr/>
          <a:lstStyle/>
          <a:p>
            <a:pPr algn="just">
              <a:lnSpc>
                <a:spcPct val="100000"/>
              </a:lnSpc>
            </a:pPr>
            <a:r>
              <a:rPr lang="en-IN" sz="2200" dirty="0">
                <a:solidFill>
                  <a:schemeClr val="tx1"/>
                </a:solidFill>
                <a:latin typeface="+mn-lt"/>
              </a:rPr>
              <a:t>Fact Ledger — typed financial records</a:t>
            </a:r>
            <a:r>
              <a:rPr lang="en-IN" sz="2200" b="0" dirty="0">
                <a:solidFill>
                  <a:schemeClr val="tx1"/>
                </a:solidFill>
                <a:latin typeface="+mn-lt"/>
              </a:rPr>
              <a:t> Bounded concept catalogue with value, unit, period, basis and provenance. Unlocks arithmetic, cross-company comparison and trend charts, which prose cannot support.</a:t>
            </a:r>
          </a:p>
          <a:p>
            <a:pPr algn="just">
              <a:lnSpc>
                <a:spcPct val="100000"/>
              </a:lnSpc>
            </a:pPr>
            <a:r>
              <a:rPr lang="en-IN" sz="2200" dirty="0">
                <a:solidFill>
                  <a:schemeClr val="tx1"/>
                </a:solidFill>
                <a:latin typeface="+mn-lt"/>
              </a:rPr>
              <a:t>Evaluation harness and golden question set</a:t>
            </a:r>
            <a:r>
              <a:rPr lang="en-IN" sz="2200" b="0" dirty="0">
                <a:solidFill>
                  <a:schemeClr val="tx1"/>
                </a:solidFill>
                <a:latin typeface="+mn-lt"/>
              </a:rPr>
              <a:t> A fixed question set with known-correct answers enables the first real quality measurement, and threshold gates in CI to prevent regression.</a:t>
            </a:r>
          </a:p>
          <a:p>
            <a:pPr algn="just">
              <a:lnSpc>
                <a:spcPct val="100000"/>
              </a:lnSpc>
            </a:pPr>
            <a:r>
              <a:rPr lang="en-IN" sz="2200" dirty="0">
                <a:solidFill>
                  <a:schemeClr val="tx1"/>
                </a:solidFill>
                <a:latin typeface="+mn-lt"/>
              </a:rPr>
              <a:t>Background processing workers</a:t>
            </a:r>
            <a:r>
              <a:rPr lang="en-IN" sz="2200" b="0" dirty="0">
                <a:solidFill>
                  <a:schemeClr val="tx1"/>
                </a:solidFill>
                <a:latin typeface="+mn-lt"/>
              </a:rPr>
              <a:t> Indexing a filing takes ~40 minutes — longer than any HTTP request. A job queue with progress reporting enables upload through the browser.</a:t>
            </a:r>
          </a:p>
          <a:p>
            <a:pPr algn="just">
              <a:lnSpc>
                <a:spcPct val="100000"/>
              </a:lnSpc>
            </a:pPr>
            <a:r>
              <a:rPr lang="en-IN" sz="2200" dirty="0">
                <a:solidFill>
                  <a:schemeClr val="tx1"/>
                </a:solidFill>
                <a:latin typeface="+mn-lt"/>
              </a:rPr>
              <a:t>GPU-backed inference</a:t>
            </a:r>
            <a:r>
              <a:rPr lang="en-IN" sz="2200" b="0" dirty="0">
                <a:solidFill>
                  <a:schemeClr val="tx1"/>
                </a:solidFill>
                <a:latin typeface="+mn-lt"/>
              </a:rPr>
              <a:t> 0% GPU offload today; the model runs on CPU. Dedicated inference hardware is an order-of-magnitude latency reduction with no code change.</a:t>
            </a:r>
          </a:p>
          <a:p>
            <a:pPr algn="just">
              <a:lnSpc>
                <a:spcPct val="100000"/>
              </a:lnSpc>
            </a:pPr>
            <a:r>
              <a:rPr lang="en-IN" sz="2200" dirty="0">
                <a:solidFill>
                  <a:schemeClr val="tx1"/>
                </a:solidFill>
                <a:latin typeface="+mn-lt"/>
              </a:rPr>
              <a:t>Deployment via AWS EC2 instance or AWS Lambda Integration </a:t>
            </a:r>
            <a:r>
              <a:rPr lang="en-IN" sz="2200" b="0" dirty="0">
                <a:solidFill>
                  <a:schemeClr val="tx1"/>
                </a:solidFill>
                <a:latin typeface="+mn-lt"/>
              </a:rPr>
              <a:t>with S3 Bucket</a:t>
            </a:r>
          </a:p>
        </p:txBody>
      </p:sp>
      <p:sp>
        <p:nvSpPr>
          <p:cNvPr id="3" name="TextBox 2">
            <a:extLst>
              <a:ext uri="{FF2B5EF4-FFF2-40B4-BE49-F238E27FC236}">
                <a16:creationId xmlns:a16="http://schemas.microsoft.com/office/drawing/2014/main" id="{D7214B6D-50C5-321E-9436-C8A0AEFA4917}"/>
              </a:ext>
            </a:extLst>
          </p:cNvPr>
          <p:cNvSpPr txBox="1"/>
          <p:nvPr/>
        </p:nvSpPr>
        <p:spPr>
          <a:xfrm>
            <a:off x="255996" y="502545"/>
            <a:ext cx="10624338" cy="646331"/>
          </a:xfrm>
          <a:prstGeom prst="rect">
            <a:avLst/>
          </a:prstGeom>
          <a:noFill/>
        </p:spPr>
        <p:txBody>
          <a:bodyPr wrap="square" rtlCol="0">
            <a:spAutoFit/>
          </a:bodyPr>
          <a:lstStyle/>
          <a:p>
            <a:pPr lvl="0">
              <a:defRPr/>
            </a:pPr>
            <a:r>
              <a:rPr kumimoji="0" lang="fr-FR"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Future Works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10AE074-48D2-B9AD-64B8-ED2E07255BD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E526BD3-275F-2B66-9DC2-274B1D6F2452}"/>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1573785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6F40-96CC-DEF8-9EB7-1452372377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03C842-0779-BE44-EECA-2F2EE3FA7309}"/>
              </a:ext>
            </a:extLst>
          </p:cNvPr>
          <p:cNvSpPr>
            <a:spLocks noGrp="1"/>
          </p:cNvSpPr>
          <p:nvPr>
            <p:ph type="body" sz="quarter" idx="13"/>
          </p:nvPr>
        </p:nvSpPr>
        <p:spPr>
          <a:xfrm>
            <a:off x="255995" y="1271219"/>
            <a:ext cx="11663861" cy="5401722"/>
          </a:xfrm>
        </p:spPr>
        <p:txBody>
          <a:bodyPr/>
          <a:lstStyle/>
          <a:p>
            <a:pPr marL="0" indent="0" algn="just">
              <a:lnSpc>
                <a:spcPct val="150000"/>
              </a:lnSpc>
              <a:buNone/>
            </a:pPr>
            <a:r>
              <a:rPr lang="en-IN" b="0" dirty="0">
                <a:solidFill>
                  <a:srgbClr val="00B0F0"/>
                </a:solidFill>
              </a:rPr>
              <a:t>I sincerely thank:</a:t>
            </a:r>
          </a:p>
          <a:p>
            <a:pPr lvl="1" algn="just">
              <a:lnSpc>
                <a:spcPct val="150000"/>
              </a:lnSpc>
            </a:pPr>
            <a:r>
              <a:rPr lang="en-IN" sz="2800" dirty="0"/>
              <a:t>My manager and project mentors for their guidance and technical feedback.</a:t>
            </a:r>
          </a:p>
          <a:p>
            <a:pPr lvl="1" algn="just">
              <a:lnSpc>
                <a:spcPct val="150000"/>
              </a:lnSpc>
            </a:pPr>
            <a:r>
              <a:rPr lang="en-IN" sz="2800" dirty="0"/>
              <a:t>My organization and internship team for the opportunity and resources.</a:t>
            </a:r>
          </a:p>
          <a:p>
            <a:pPr lvl="1" algn="just">
              <a:lnSpc>
                <a:spcPct val="150000"/>
              </a:lnSpc>
            </a:pPr>
            <a:r>
              <a:rPr lang="en-IN" sz="2800" dirty="0"/>
              <a:t>The open-source communities behind the technologies used in </a:t>
            </a:r>
            <a:r>
              <a:rPr lang="en-IN" sz="2800" dirty="0" err="1"/>
              <a:t>FinSight</a:t>
            </a:r>
            <a:r>
              <a:rPr lang="en-IN" sz="2800" dirty="0"/>
              <a:t>.</a:t>
            </a:r>
          </a:p>
          <a:p>
            <a:pPr lvl="1" algn="just">
              <a:lnSpc>
                <a:spcPct val="150000"/>
              </a:lnSpc>
            </a:pPr>
            <a:r>
              <a:rPr lang="en-IN" sz="2800" dirty="0"/>
              <a:t>Everyone who supported the reviews, testing, and refinement of this project.</a:t>
            </a:r>
          </a:p>
        </p:txBody>
      </p:sp>
      <p:sp>
        <p:nvSpPr>
          <p:cNvPr id="3" name="TextBox 2">
            <a:extLst>
              <a:ext uri="{FF2B5EF4-FFF2-40B4-BE49-F238E27FC236}">
                <a16:creationId xmlns:a16="http://schemas.microsoft.com/office/drawing/2014/main" id="{06DDE408-8E1E-6FA2-7CC4-7953936B171B}"/>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err="1">
                <a:solidFill>
                  <a:srgbClr val="5B9BD5">
                    <a:lumMod val="50000"/>
                  </a:srgbClr>
                </a:solidFill>
              </a:rPr>
              <a:t>Acknowledgement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1AC8EE7-5ED3-D96C-9268-8B7B9A5D057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06C5A91-6D8B-7A46-6BA9-7AF0BB8742E7}"/>
              </a:ext>
            </a:extLst>
          </p:cNvPr>
          <p:cNvSpPr txBox="1"/>
          <p:nvPr/>
        </p:nvSpPr>
        <p:spPr>
          <a:xfrm>
            <a:off x="4397829" y="57036"/>
            <a:ext cx="7794171"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1573488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E11D5E-73A6-DACE-A314-51CBCF3D39FA}"/>
              </a:ext>
            </a:extLst>
          </p:cNvPr>
          <p:cNvSpPr>
            <a:spLocks noGrp="1"/>
          </p:cNvSpPr>
          <p:nvPr>
            <p:ph type="body" sz="quarter" idx="13"/>
          </p:nvPr>
        </p:nvSpPr>
        <p:spPr>
          <a:xfrm>
            <a:off x="255996" y="1271219"/>
            <a:ext cx="11631204" cy="5423490"/>
          </a:xfrm>
        </p:spPr>
        <p:txBody>
          <a:bodyPr/>
          <a:lstStyle/>
          <a:p>
            <a:pPr marL="0" indent="0" algn="just">
              <a:lnSpc>
                <a:spcPct val="100000"/>
              </a:lnSpc>
              <a:buNone/>
            </a:pPr>
            <a:r>
              <a:rPr lang="en-IN" sz="2300" b="0" dirty="0">
                <a:solidFill>
                  <a:schemeClr val="tx1"/>
                </a:solidFill>
                <a:latin typeface="+mn-lt"/>
              </a:rPr>
              <a:t>[1]  T. Gao, H. Yen, J. Yu, and D. Chen, "Enabling large language models to generate text with citations," in Proc. Conf. Empirical Methods in Natural Language Processing (EMNLP), 2023, pp. 6465–6488.</a:t>
            </a:r>
          </a:p>
          <a:p>
            <a:pPr marL="0" indent="0" algn="just">
              <a:lnSpc>
                <a:spcPct val="100000"/>
              </a:lnSpc>
              <a:buNone/>
            </a:pPr>
            <a:r>
              <a:rPr lang="en-IN" sz="2300" b="0" dirty="0">
                <a:solidFill>
                  <a:schemeClr val="tx1"/>
                </a:solidFill>
                <a:latin typeface="+mn-lt"/>
              </a:rPr>
              <a:t>[2]  J. Menick et al., "Teaching language models to support answers with verified quotes," arXiv:2203.11147, 2022.</a:t>
            </a:r>
          </a:p>
          <a:p>
            <a:pPr marL="0" indent="0" algn="just">
              <a:lnSpc>
                <a:spcPct val="100000"/>
              </a:lnSpc>
              <a:buNone/>
            </a:pPr>
            <a:r>
              <a:rPr lang="en-IN" sz="2300" b="0" dirty="0">
                <a:solidFill>
                  <a:schemeClr val="tx1"/>
                </a:solidFill>
                <a:latin typeface="+mn-lt"/>
              </a:rPr>
              <a:t>[3]  N. F. Liu et al., "Lost in the middle: How language models use long contexts," Trans. Assoc. Comput. Linguist., vol. 12, pp. 157–173, 2024.</a:t>
            </a:r>
          </a:p>
          <a:p>
            <a:pPr marL="0" indent="0" algn="just">
              <a:lnSpc>
                <a:spcPct val="100000"/>
              </a:lnSpc>
              <a:buNone/>
            </a:pPr>
            <a:r>
              <a:rPr lang="en-IN" sz="2300" b="0" dirty="0">
                <a:solidFill>
                  <a:schemeClr val="tx1"/>
                </a:solidFill>
                <a:latin typeface="+mn-lt"/>
              </a:rPr>
              <a:t>[4]  A. Asai, Z. Wu, Y. Wang, A. Sil, and H. Hajishirzi, "Self-RAG: Learning to retrieve, generate, and critique through self-reflection," in Proc. Int. Conf. Learning Representations (ICLR), 2024.</a:t>
            </a:r>
          </a:p>
          <a:p>
            <a:pPr marL="0" indent="0" algn="just">
              <a:lnSpc>
                <a:spcPct val="100000"/>
              </a:lnSpc>
              <a:buNone/>
            </a:pPr>
            <a:r>
              <a:rPr lang="en-IN" sz="2300" b="0" dirty="0">
                <a:solidFill>
                  <a:schemeClr val="tx1"/>
                </a:solidFill>
                <a:latin typeface="+mn-lt"/>
              </a:rPr>
              <a:t>[5]  K. Greshake, S. Abdelnabi, S. Mishra, C. Endres, T. Holz, and M. Fritz, "Not what you've signed up for: Compromising real-world LLM-integrated applications with indirect prompt injection," in Proc. 16th ACM Workshop on Artificial Intelligence and Security (AISec), 2023, pp. 79–90.</a:t>
            </a:r>
          </a:p>
          <a:p>
            <a:pPr marL="0" indent="0" algn="just">
              <a:lnSpc>
                <a:spcPct val="100000"/>
              </a:lnSpc>
              <a:buNone/>
            </a:pPr>
            <a:endParaRPr lang="en-US" sz="2300" b="0" dirty="0">
              <a:solidFill>
                <a:schemeClr val="tx1"/>
              </a:solidFill>
              <a:latin typeface="+mn-lt"/>
            </a:endParaRPr>
          </a:p>
        </p:txBody>
      </p:sp>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1659890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7644F-2646-EB6A-C127-4B744B9EA9F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06135D1-D25B-134E-D1AC-85639BC79E6B}"/>
              </a:ext>
            </a:extLst>
          </p:cNvPr>
          <p:cNvSpPr>
            <a:spLocks noGrp="1"/>
          </p:cNvSpPr>
          <p:nvPr>
            <p:ph type="body" sz="quarter" idx="13"/>
          </p:nvPr>
        </p:nvSpPr>
        <p:spPr>
          <a:xfrm>
            <a:off x="255996" y="1271219"/>
            <a:ext cx="11631204" cy="5423490"/>
          </a:xfrm>
        </p:spPr>
        <p:txBody>
          <a:bodyPr/>
          <a:lstStyle/>
          <a:p>
            <a:pPr marL="0" indent="0" algn="just">
              <a:lnSpc>
                <a:spcPct val="100000"/>
              </a:lnSpc>
              <a:buNone/>
            </a:pPr>
            <a:r>
              <a:rPr lang="en-IN" sz="2300" b="0" dirty="0">
                <a:solidFill>
                  <a:schemeClr val="tx1"/>
                </a:solidFill>
                <a:latin typeface="+mn-lt"/>
              </a:rPr>
              <a:t>[6]  Y. Gao et al., "Retrieval-augmented generation for large language models: A survey," arXiv:2312.10997, 2023.</a:t>
            </a:r>
          </a:p>
          <a:p>
            <a:pPr marL="0" indent="0" algn="just">
              <a:lnSpc>
                <a:spcPct val="100000"/>
              </a:lnSpc>
              <a:buNone/>
            </a:pPr>
            <a:r>
              <a:rPr lang="en-IN" sz="2300" b="0" dirty="0">
                <a:solidFill>
                  <a:schemeClr val="tx1"/>
                </a:solidFill>
                <a:latin typeface="+mn-lt"/>
              </a:rPr>
              <a:t>[7]  N. Thakur, N. Reimers, A. Rücklé, A. Srivastava, and I. Gurevych, "BEIR: A heterogeneous benchmark for zero-shot evaluation of information retrieval models," in Proc. NeurIPS Datasets and Benchmarks Track, 2021.</a:t>
            </a:r>
          </a:p>
          <a:p>
            <a:pPr marL="0" indent="0" algn="just">
              <a:lnSpc>
                <a:spcPct val="100000"/>
              </a:lnSpc>
              <a:buNone/>
            </a:pPr>
            <a:r>
              <a:rPr lang="en-IN" sz="2300" b="0" dirty="0">
                <a:solidFill>
                  <a:schemeClr val="tx1"/>
                </a:solidFill>
                <a:latin typeface="+mn-lt"/>
              </a:rPr>
              <a:t>[8]  T. Formal, C. Lassance, B. Piwowarski, and S. Clinchant, "From distillation to hard negative sampling: Making sparse neural IR models more effective,” in Proc. 45th Int. ACM SIGIR Conf., 2022, pp. 2353–2359.</a:t>
            </a:r>
          </a:p>
          <a:p>
            <a:pPr marL="0" indent="0" algn="just">
              <a:lnSpc>
                <a:spcPct val="100000"/>
              </a:lnSpc>
              <a:buNone/>
            </a:pPr>
            <a:r>
              <a:rPr lang="en-IN" sz="2300" b="0" dirty="0">
                <a:solidFill>
                  <a:schemeClr val="tx1"/>
                </a:solidFill>
                <a:latin typeface="+mn-lt"/>
              </a:rPr>
              <a:t>[9]  Z. Ji et al., "Survey of hallucination in natural language generation,“ ACM Comput. Surv., vol. 55, no. 12, art. 248, pp. 1–38, 2023.</a:t>
            </a:r>
          </a:p>
          <a:p>
            <a:pPr marL="0" indent="0" algn="just">
              <a:lnSpc>
                <a:spcPct val="100000"/>
              </a:lnSpc>
              <a:buNone/>
            </a:pPr>
            <a:r>
              <a:rPr lang="en-IN" sz="2300" b="0" dirty="0">
                <a:solidFill>
                  <a:schemeClr val="tx1"/>
                </a:solidFill>
                <a:latin typeface="+mn-lt"/>
              </a:rPr>
              <a:t>[10] A. Grattafiori et al., "The Llama 3 herd of models," arXiv:2407.21783, 2024.</a:t>
            </a:r>
          </a:p>
        </p:txBody>
      </p:sp>
      <p:sp>
        <p:nvSpPr>
          <p:cNvPr id="3" name="TextBox 2">
            <a:extLst>
              <a:ext uri="{FF2B5EF4-FFF2-40B4-BE49-F238E27FC236}">
                <a16:creationId xmlns:a16="http://schemas.microsoft.com/office/drawing/2014/main" id="{620A98FB-A9F5-F038-1799-245AC61D0427}"/>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Reference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3FB924C-D462-E016-3275-1E0C0D7EDF4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12E0E5A-3D7E-CFD6-EB4C-C52DFA033CF2}"/>
              </a:ext>
            </a:extLst>
          </p:cNvPr>
          <p:cNvSpPr txBox="1"/>
          <p:nvPr/>
        </p:nvSpPr>
        <p:spPr>
          <a:xfrm>
            <a:off x="4408715" y="57036"/>
            <a:ext cx="7783286" cy="369332"/>
          </a:xfrm>
          <a:prstGeom prst="rect">
            <a:avLst/>
          </a:prstGeom>
          <a:noFill/>
        </p:spPr>
        <p:txBody>
          <a:bodyPr wrap="square" rtlCol="0">
            <a:spAutoFit/>
          </a:bodyPr>
          <a:lstStyle/>
          <a:p>
            <a:pPr lvl="0" algn="ctr">
              <a:defRPr/>
            </a:pPr>
            <a:r>
              <a:rPr lang="en-US" b="1" dirty="0" err="1">
                <a:solidFill>
                  <a:prstClr val="white"/>
                </a:solidFill>
                <a:cs typeface="Calibri" panose="020F0502020204030204" pitchFamily="34" charset="0"/>
              </a:rPr>
              <a:t>FinSight</a:t>
            </a:r>
            <a:r>
              <a:rPr lang="en-US" b="1" dirty="0">
                <a:solidFill>
                  <a:prstClr val="white"/>
                </a:solidFill>
                <a:cs typeface="Calibri" panose="020F0502020204030204" pitchFamily="34" charset="0"/>
              </a:rPr>
              <a:t>: An Evidence-Grounded Financial Filing Analyst powered by Hybrid RAG</a:t>
            </a:r>
          </a:p>
        </p:txBody>
      </p:sp>
    </p:spTree>
    <p:extLst>
      <p:ext uri="{BB962C8B-B14F-4D97-AF65-F5344CB8AC3E}">
        <p14:creationId xmlns:p14="http://schemas.microsoft.com/office/powerpoint/2010/main" val="423291441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960</TotalTime>
  <Words>1541</Words>
  <Application>Microsoft Office PowerPoint</Application>
  <PresentationFormat>Widescreen</PresentationFormat>
  <Paragraphs>140</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-apple-system</vt:lpstr>
      <vt:lpstr>Aptos</vt:lpstr>
      <vt:lpstr>Arial</vt:lpstr>
      <vt:lpstr>Calibri</vt:lpstr>
      <vt:lpstr>Calibri (Body)</vt:lpstr>
      <vt:lpstr>Frutiger 45 bold</vt:lpstr>
      <vt:lpstr>Frutiger LT Pro 45 Light</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Dhayanidhi RS</cp:lastModifiedBy>
  <cp:revision>66</cp:revision>
  <dcterms:created xsi:type="dcterms:W3CDTF">2024-05-13T10:33:11Z</dcterms:created>
  <dcterms:modified xsi:type="dcterms:W3CDTF">2026-10-13T08:38:27Z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